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Bricolage Grotesque" panose="020B0604020202020204" charset="0"/>
      <p:regular r:id="rId12"/>
    </p:embeddedFont>
    <p:embeddedFont>
      <p:font typeface="Monda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1" d="100"/>
          <a:sy n="31" d="100"/>
        </p:scale>
        <p:origin x="1042"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a:extLst>
                <a:ext uri="{96DAC541-7B7A-43D3-8B79-37D633B846F1}">
                  <asvg:svgBlip xmlns:asvg="http://schemas.microsoft.com/office/drawing/2016/SVG/main" r:embed="rId2"/>
                </a:ext>
              </a:extLst>
            </a:blip>
            <a:stretch>
              <a:fillRect l="-36235"/>
            </a:stretch>
          </a:blipFill>
        </p:spPr>
      </p:sp>
      <p:sp>
        <p:nvSpPr>
          <p:cNvPr id="3" name="Freeform 3"/>
          <p:cNvSpPr/>
          <p:nvPr/>
        </p:nvSpPr>
        <p:spPr>
          <a:xfrm flipH="1">
            <a:off x="589664" y="3613660"/>
            <a:ext cx="2793318" cy="8644339"/>
          </a:xfrm>
          <a:custGeom>
            <a:avLst/>
            <a:gdLst/>
            <a:ahLst/>
            <a:cxnLst/>
            <a:rect l="l" t="t" r="r" b="b"/>
            <a:pathLst>
              <a:path w="2793318" h="8644339">
                <a:moveTo>
                  <a:pt x="2793319" y="0"/>
                </a:moveTo>
                <a:lnTo>
                  <a:pt x="0" y="0"/>
                </a:lnTo>
                <a:lnTo>
                  <a:pt x="0" y="8644339"/>
                </a:lnTo>
                <a:lnTo>
                  <a:pt x="2793319" y="8644339"/>
                </a:lnTo>
                <a:lnTo>
                  <a:pt x="2793319" y="0"/>
                </a:lnTo>
                <a:close/>
              </a:path>
            </a:pathLst>
          </a:custGeom>
          <a:blipFill>
            <a:blip>
              <a:extLst>
                <a:ext uri="{96DAC541-7B7A-43D3-8B79-37D633B846F1}">
                  <asvg:svgBlip xmlns:asvg="http://schemas.microsoft.com/office/drawing/2016/SVG/main" r:embed="rId2"/>
                </a:ext>
              </a:extLst>
            </a:blip>
            <a:stretch>
              <a:fillRect r="-278234"/>
            </a:stretch>
          </a:blipFill>
        </p:spPr>
      </p:sp>
      <p:grpSp>
        <p:nvGrpSpPr>
          <p:cNvPr id="4" name="Group 4"/>
          <p:cNvGrpSpPr/>
          <p:nvPr/>
        </p:nvGrpSpPr>
        <p:grpSpPr>
          <a:xfrm>
            <a:off x="13228992" y="4605176"/>
            <a:ext cx="4030308" cy="3792862"/>
            <a:chOff x="0" y="0"/>
            <a:chExt cx="1976073" cy="1859652"/>
          </a:xfrm>
        </p:grpSpPr>
        <p:sp>
          <p:nvSpPr>
            <p:cNvPr id="5" name="Freeform 5"/>
            <p:cNvSpPr/>
            <p:nvPr/>
          </p:nvSpPr>
          <p:spPr>
            <a:xfrm>
              <a:off x="0" y="6"/>
              <a:ext cx="1976066" cy="1859646"/>
            </a:xfrm>
            <a:custGeom>
              <a:avLst/>
              <a:gdLst/>
              <a:ahLst/>
              <a:cxnLst/>
              <a:rect l="l" t="t" r="r" b="b"/>
              <a:pathLst>
                <a:path w="1976066" h="1859646">
                  <a:moveTo>
                    <a:pt x="1303304" y="1281700"/>
                  </a:moveTo>
                  <a:lnTo>
                    <a:pt x="1890214" y="1281700"/>
                  </a:lnTo>
                  <a:cubicBezTo>
                    <a:pt x="1937629" y="1281700"/>
                    <a:pt x="1976066" y="1243262"/>
                    <a:pt x="1976066" y="1195848"/>
                  </a:cubicBezTo>
                  <a:lnTo>
                    <a:pt x="1976066" y="85852"/>
                  </a:lnTo>
                  <a:cubicBezTo>
                    <a:pt x="1976066" y="38438"/>
                    <a:pt x="1937629" y="0"/>
                    <a:pt x="1890214" y="0"/>
                  </a:cubicBezTo>
                  <a:lnTo>
                    <a:pt x="646049" y="0"/>
                  </a:lnTo>
                  <a:cubicBezTo>
                    <a:pt x="623279" y="0"/>
                    <a:pt x="601441" y="9046"/>
                    <a:pt x="585340" y="25148"/>
                  </a:cubicBezTo>
                  <a:cubicBezTo>
                    <a:pt x="569240" y="41250"/>
                    <a:pt x="560195" y="63088"/>
                    <a:pt x="560197" y="85859"/>
                  </a:cubicBezTo>
                  <a:lnTo>
                    <a:pt x="560197" y="831732"/>
                  </a:lnTo>
                  <a:cubicBezTo>
                    <a:pt x="560197" y="879148"/>
                    <a:pt x="521761" y="917587"/>
                    <a:pt x="474345" y="917591"/>
                  </a:cubicBezTo>
                  <a:lnTo>
                    <a:pt x="85858" y="917591"/>
                  </a:lnTo>
                  <a:cubicBezTo>
                    <a:pt x="38440" y="917591"/>
                    <a:pt x="0" y="956031"/>
                    <a:pt x="0" y="1003449"/>
                  </a:cubicBezTo>
                  <a:lnTo>
                    <a:pt x="0" y="1179179"/>
                  </a:lnTo>
                  <a:lnTo>
                    <a:pt x="0" y="1553226"/>
                  </a:lnTo>
                  <a:cubicBezTo>
                    <a:pt x="0" y="1573624"/>
                    <a:pt x="7263" y="1593357"/>
                    <a:pt x="20488" y="1608887"/>
                  </a:cubicBezTo>
                  <a:lnTo>
                    <a:pt x="208294" y="1829451"/>
                  </a:lnTo>
                  <a:cubicBezTo>
                    <a:pt x="224606" y="1848609"/>
                    <a:pt x="248502" y="1859647"/>
                    <a:pt x="273665" y="1859646"/>
                  </a:cubicBezTo>
                  <a:lnTo>
                    <a:pt x="1131588" y="1859646"/>
                  </a:lnTo>
                  <a:cubicBezTo>
                    <a:pt x="1154358" y="1859648"/>
                    <a:pt x="1176197" y="1850604"/>
                    <a:pt x="1192298" y="1834503"/>
                  </a:cubicBezTo>
                  <a:cubicBezTo>
                    <a:pt x="1208400" y="1818403"/>
                    <a:pt x="1217446" y="1796565"/>
                    <a:pt x="1217446" y="1773794"/>
                  </a:cubicBezTo>
                  <a:lnTo>
                    <a:pt x="1217446" y="1367558"/>
                  </a:lnTo>
                  <a:cubicBezTo>
                    <a:pt x="1217444" y="1344787"/>
                    <a:pt x="1226490" y="1322947"/>
                    <a:pt x="1242592" y="1306845"/>
                  </a:cubicBezTo>
                  <a:cubicBezTo>
                    <a:pt x="1258694" y="1290743"/>
                    <a:pt x="1280533" y="1281698"/>
                    <a:pt x="1303304" y="1281700"/>
                  </a:cubicBezTo>
                  <a:close/>
                </a:path>
              </a:pathLst>
            </a:custGeom>
            <a:blipFill>
              <a:blip r:embed="rId3"/>
              <a:stretch>
                <a:fillRect t="-672" b="-672"/>
              </a:stretch>
            </a:blipFill>
          </p:spPr>
        </p:sp>
      </p:grpSp>
      <p:sp>
        <p:nvSpPr>
          <p:cNvPr id="6" name="Freeform 6"/>
          <p:cNvSpPr/>
          <p:nvPr/>
        </p:nvSpPr>
        <p:spPr>
          <a:xfrm>
            <a:off x="14893457" y="515915"/>
            <a:ext cx="2932078" cy="1767280"/>
          </a:xfrm>
          <a:custGeom>
            <a:avLst/>
            <a:gdLst/>
            <a:ahLst/>
            <a:cxnLst/>
            <a:rect l="l" t="t" r="r" b="b"/>
            <a:pathLst>
              <a:path w="2932078" h="1767280">
                <a:moveTo>
                  <a:pt x="0" y="0"/>
                </a:moveTo>
                <a:lnTo>
                  <a:pt x="2932079" y="0"/>
                </a:lnTo>
                <a:lnTo>
                  <a:pt x="2932079" y="1767280"/>
                </a:lnTo>
                <a:lnTo>
                  <a:pt x="0" y="1767280"/>
                </a:lnTo>
                <a:lnTo>
                  <a:pt x="0" y="0"/>
                </a:lnTo>
                <a:close/>
              </a:path>
            </a:pathLst>
          </a:custGeom>
          <a:blipFill>
            <a:blip r:embed="rId4"/>
            <a:stretch>
              <a:fillRect l="-83067" t="-88653" r="-525532" b="-643198"/>
            </a:stretch>
          </a:blipFill>
        </p:spPr>
      </p:sp>
      <p:sp>
        <p:nvSpPr>
          <p:cNvPr id="7" name="TextBox 7"/>
          <p:cNvSpPr txBox="1"/>
          <p:nvPr/>
        </p:nvSpPr>
        <p:spPr>
          <a:xfrm>
            <a:off x="3972420" y="2343684"/>
            <a:ext cx="9990969" cy="966073"/>
          </a:xfrm>
          <a:prstGeom prst="rect">
            <a:avLst/>
          </a:prstGeom>
        </p:spPr>
        <p:txBody>
          <a:bodyPr lIns="0" tIns="0" rIns="0" bIns="0" rtlCol="0" anchor="t">
            <a:spAutoFit/>
          </a:bodyPr>
          <a:lstStyle/>
          <a:p>
            <a:pPr marL="0" lvl="0" indent="0" algn="l">
              <a:lnSpc>
                <a:spcPts val="7953"/>
              </a:lnSpc>
            </a:pPr>
            <a:r>
              <a:rPr lang="en-US" sz="5680" b="1">
                <a:solidFill>
                  <a:srgbClr val="5A8D1E"/>
                </a:solidFill>
                <a:latin typeface="Monda Bold"/>
                <a:ea typeface="Monda Bold"/>
                <a:cs typeface="Monda Bold"/>
                <a:sym typeface="Monda Bold"/>
              </a:rPr>
              <a:t>ADH ID</a:t>
            </a:r>
          </a:p>
        </p:txBody>
      </p:sp>
      <p:sp>
        <p:nvSpPr>
          <p:cNvPr id="8" name="TextBox 8"/>
          <p:cNvSpPr txBox="1"/>
          <p:nvPr/>
        </p:nvSpPr>
        <p:spPr>
          <a:xfrm>
            <a:off x="3972420" y="3547882"/>
            <a:ext cx="9416550" cy="966073"/>
          </a:xfrm>
          <a:prstGeom prst="rect">
            <a:avLst/>
          </a:prstGeom>
        </p:spPr>
        <p:txBody>
          <a:bodyPr lIns="0" tIns="0" rIns="0" bIns="0" rtlCol="0" anchor="t">
            <a:spAutoFit/>
          </a:bodyPr>
          <a:lstStyle/>
          <a:p>
            <a:pPr marL="0" lvl="0" indent="0" algn="l">
              <a:lnSpc>
                <a:spcPts val="7953"/>
              </a:lnSpc>
            </a:pPr>
            <a:r>
              <a:rPr lang="en-US" sz="5680" b="1">
                <a:solidFill>
                  <a:srgbClr val="225A58"/>
                </a:solidFill>
                <a:latin typeface="Monda Bold"/>
                <a:ea typeface="Monda Bold"/>
                <a:cs typeface="Monda Bold"/>
                <a:sym typeface="Monda Bold"/>
              </a:rPr>
              <a:t>GENERATION SOFTWARE</a:t>
            </a:r>
          </a:p>
        </p:txBody>
      </p:sp>
      <p:sp>
        <p:nvSpPr>
          <p:cNvPr id="9" name="TextBox 9"/>
          <p:cNvSpPr txBox="1"/>
          <p:nvPr/>
        </p:nvSpPr>
        <p:spPr>
          <a:xfrm>
            <a:off x="3972420" y="8092673"/>
            <a:ext cx="4546447" cy="307325"/>
          </a:xfrm>
          <a:prstGeom prst="rect">
            <a:avLst/>
          </a:prstGeom>
        </p:spPr>
        <p:txBody>
          <a:bodyPr lIns="0" tIns="0" rIns="0" bIns="0" rtlCol="0" anchor="t">
            <a:spAutoFit/>
          </a:bodyPr>
          <a:lstStyle/>
          <a:p>
            <a:pPr marL="0" lvl="0" indent="0" algn="l">
              <a:lnSpc>
                <a:spcPts val="2485"/>
              </a:lnSpc>
            </a:pPr>
            <a:r>
              <a:rPr lang="en-US" sz="1775">
                <a:solidFill>
                  <a:srgbClr val="225A58"/>
                </a:solidFill>
                <a:latin typeface="Bricolage Grotesque"/>
                <a:ea typeface="Bricolage Grotesque"/>
                <a:cs typeface="Bricolage Grotesque"/>
                <a:sym typeface="Bricolage Grotesque"/>
              </a:rPr>
              <a:t>Presented by:</a:t>
            </a:r>
          </a:p>
        </p:txBody>
      </p:sp>
      <p:sp>
        <p:nvSpPr>
          <p:cNvPr id="10" name="TextBox 10"/>
          <p:cNvSpPr txBox="1"/>
          <p:nvPr/>
        </p:nvSpPr>
        <p:spPr>
          <a:xfrm>
            <a:off x="3972420" y="4961426"/>
            <a:ext cx="9588307" cy="438071"/>
          </a:xfrm>
          <a:prstGeom prst="rect">
            <a:avLst/>
          </a:prstGeom>
        </p:spPr>
        <p:txBody>
          <a:bodyPr lIns="0" tIns="0" rIns="0" bIns="0" rtlCol="0" anchor="t">
            <a:spAutoFit/>
          </a:bodyPr>
          <a:lstStyle/>
          <a:p>
            <a:pPr marL="0" lvl="0" indent="0" algn="l">
              <a:lnSpc>
                <a:spcPts val="3517"/>
              </a:lnSpc>
            </a:pPr>
            <a:r>
              <a:rPr lang="en-US" sz="2512">
                <a:solidFill>
                  <a:srgbClr val="225A58"/>
                </a:solidFill>
                <a:latin typeface="Bricolage Grotesque"/>
                <a:ea typeface="Bricolage Grotesque"/>
                <a:cs typeface="Bricolage Grotesque"/>
                <a:sym typeface="Bricolage Grotesque"/>
              </a:rPr>
              <a:t>Internship Presentation | Front End Design</a:t>
            </a:r>
          </a:p>
        </p:txBody>
      </p:sp>
      <p:sp>
        <p:nvSpPr>
          <p:cNvPr id="11" name="TextBox 11"/>
          <p:cNvSpPr txBox="1"/>
          <p:nvPr/>
        </p:nvSpPr>
        <p:spPr>
          <a:xfrm>
            <a:off x="10325245" y="8677910"/>
            <a:ext cx="6934055" cy="458484"/>
          </a:xfrm>
          <a:prstGeom prst="rect">
            <a:avLst/>
          </a:prstGeom>
        </p:spPr>
        <p:txBody>
          <a:bodyPr lIns="0" tIns="0" rIns="0" bIns="0" rtlCol="0" anchor="t">
            <a:spAutoFit/>
          </a:bodyPr>
          <a:lstStyle/>
          <a:p>
            <a:pPr marL="0" lvl="0" indent="0" algn="r">
              <a:lnSpc>
                <a:spcPts val="3604"/>
              </a:lnSpc>
            </a:pPr>
            <a:r>
              <a:rPr lang="en-US" sz="2574">
                <a:solidFill>
                  <a:srgbClr val="225A58"/>
                </a:solidFill>
                <a:latin typeface="Bricolage Grotesque"/>
                <a:ea typeface="Bricolage Grotesque"/>
                <a:cs typeface="Bricolage Grotesque"/>
                <a:sym typeface="Bricolage Grotesque"/>
              </a:rPr>
              <a:t>ADH Enterprises</a:t>
            </a:r>
          </a:p>
        </p:txBody>
      </p:sp>
      <p:sp>
        <p:nvSpPr>
          <p:cNvPr id="12" name="TextBox 12"/>
          <p:cNvSpPr txBox="1"/>
          <p:nvPr/>
        </p:nvSpPr>
        <p:spPr>
          <a:xfrm>
            <a:off x="3972420" y="8606388"/>
            <a:ext cx="5501850" cy="355687"/>
          </a:xfrm>
          <a:prstGeom prst="rect">
            <a:avLst/>
          </a:prstGeom>
        </p:spPr>
        <p:txBody>
          <a:bodyPr lIns="0" tIns="0" rIns="0" bIns="0" rtlCol="0" anchor="t">
            <a:spAutoFit/>
          </a:bodyPr>
          <a:lstStyle/>
          <a:p>
            <a:pPr marL="0" lvl="0" indent="0" algn="l">
              <a:lnSpc>
                <a:spcPts val="2970"/>
              </a:lnSpc>
            </a:pPr>
            <a:r>
              <a:rPr lang="en-US" sz="2121" b="1">
                <a:solidFill>
                  <a:srgbClr val="225A58"/>
                </a:solidFill>
                <a:latin typeface="Monda Bold"/>
                <a:ea typeface="Monda Bold"/>
                <a:cs typeface="Monda Bold"/>
                <a:sym typeface="Monda Bold"/>
              </a:rPr>
              <a:t>Modassir Husain</a:t>
            </a:r>
          </a:p>
        </p:txBody>
      </p:sp>
      <p:sp>
        <p:nvSpPr>
          <p:cNvPr id="13" name="TextBox 13"/>
          <p:cNvSpPr txBox="1"/>
          <p:nvPr/>
        </p:nvSpPr>
        <p:spPr>
          <a:xfrm>
            <a:off x="3972420" y="8975646"/>
            <a:ext cx="5501850" cy="370166"/>
          </a:xfrm>
          <a:prstGeom prst="rect">
            <a:avLst/>
          </a:prstGeom>
        </p:spPr>
        <p:txBody>
          <a:bodyPr lIns="0" tIns="0" rIns="0" bIns="0" rtlCol="0" anchor="t">
            <a:spAutoFit/>
          </a:bodyPr>
          <a:lstStyle/>
          <a:p>
            <a:pPr marL="0" lvl="0" indent="0" algn="l">
              <a:lnSpc>
                <a:spcPts val="2970"/>
              </a:lnSpc>
            </a:pPr>
            <a:r>
              <a:rPr lang="en-US" sz="2121" b="1" dirty="0">
                <a:solidFill>
                  <a:srgbClr val="225A58"/>
                </a:solidFill>
                <a:latin typeface="Monda Bold"/>
                <a:ea typeface="Monda Bold"/>
                <a:cs typeface="Monda Bold"/>
                <a:sym typeface="Monda Bold"/>
              </a:rPr>
              <a:t>25SCS1003004509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96517" y="2658110"/>
            <a:ext cx="11372919" cy="771074"/>
          </a:xfrm>
          <a:prstGeom prst="rect">
            <a:avLst/>
          </a:prstGeom>
        </p:spPr>
        <p:txBody>
          <a:bodyPr lIns="0" tIns="0" rIns="0" bIns="0" rtlCol="0" anchor="t">
            <a:spAutoFit/>
          </a:bodyPr>
          <a:lstStyle/>
          <a:p>
            <a:pPr marL="0" lvl="0" indent="0" algn="l">
              <a:lnSpc>
                <a:spcPts val="5656"/>
              </a:lnSpc>
            </a:pPr>
            <a:r>
              <a:rPr lang="en-US" sz="6148" b="1">
                <a:solidFill>
                  <a:srgbClr val="5A8D1E"/>
                </a:solidFill>
                <a:latin typeface="Monda Bold"/>
                <a:ea typeface="Monda Bold"/>
                <a:cs typeface="Monda Bold"/>
                <a:sym typeface="Monda Bold"/>
              </a:rPr>
              <a:t>ROLE &amp; INTERNSHIP FOCUS</a:t>
            </a:r>
          </a:p>
        </p:txBody>
      </p:sp>
      <p:sp>
        <p:nvSpPr>
          <p:cNvPr id="3" name="Freeform 3"/>
          <p:cNvSpPr/>
          <p:nvPr/>
        </p:nvSpPr>
        <p:spPr>
          <a:xfrm flipV="1">
            <a:off x="13529354" y="537418"/>
            <a:ext cx="9517292" cy="10608512"/>
          </a:xfrm>
          <a:custGeom>
            <a:avLst/>
            <a:gdLst/>
            <a:ahLst/>
            <a:cxnLst/>
            <a:rect l="l" t="t" r="r" b="b"/>
            <a:pathLst>
              <a:path w="9517292" h="10608512">
                <a:moveTo>
                  <a:pt x="0" y="10608512"/>
                </a:moveTo>
                <a:lnTo>
                  <a:pt x="9517292" y="10608512"/>
                </a:lnTo>
                <a:lnTo>
                  <a:pt x="9517292" y="0"/>
                </a:lnTo>
                <a:lnTo>
                  <a:pt x="0" y="0"/>
                </a:lnTo>
                <a:lnTo>
                  <a:pt x="0" y="10608512"/>
                </a:lnTo>
                <a:close/>
              </a:path>
            </a:pathLst>
          </a:custGeom>
          <a:blipFill>
            <a:blip>
              <a:extLst>
                <a:ext uri="{96DAC541-7B7A-43D3-8B79-37D633B846F1}">
                  <asvg:svgBlip xmlns:asvg="http://schemas.microsoft.com/office/drawing/2016/SVG/main" r:embed="rId2"/>
                </a:ext>
              </a:extLst>
            </a:blip>
            <a:stretch>
              <a:fillRect l="-36235"/>
            </a:stretch>
          </a:blipFill>
        </p:spPr>
      </p:sp>
      <p:grpSp>
        <p:nvGrpSpPr>
          <p:cNvPr id="4" name="Group 4"/>
          <p:cNvGrpSpPr/>
          <p:nvPr/>
        </p:nvGrpSpPr>
        <p:grpSpPr>
          <a:xfrm>
            <a:off x="10818695" y="4011930"/>
            <a:ext cx="6440605" cy="5526520"/>
            <a:chOff x="0" y="0"/>
            <a:chExt cx="6269228" cy="5379466"/>
          </a:xfrm>
        </p:grpSpPr>
        <p:sp>
          <p:nvSpPr>
            <p:cNvPr id="5" name="Freeform 5"/>
            <p:cNvSpPr/>
            <p:nvPr/>
          </p:nvSpPr>
          <p:spPr>
            <a:xfrm>
              <a:off x="12" y="76"/>
              <a:ext cx="6269216" cy="5379390"/>
            </a:xfrm>
            <a:custGeom>
              <a:avLst/>
              <a:gdLst/>
              <a:ahLst/>
              <a:cxnLst/>
              <a:rect l="l" t="t" r="r" b="b"/>
              <a:pathLst>
                <a:path w="6269216" h="5379390">
                  <a:moveTo>
                    <a:pt x="5977116" y="5379390"/>
                  </a:moveTo>
                  <a:cubicBezTo>
                    <a:pt x="6137771" y="5379390"/>
                    <a:pt x="6269216" y="5247945"/>
                    <a:pt x="6269216" y="5087290"/>
                  </a:cubicBezTo>
                  <a:lnTo>
                    <a:pt x="6269216" y="237922"/>
                  </a:lnTo>
                  <a:cubicBezTo>
                    <a:pt x="6269216" y="77267"/>
                    <a:pt x="6140565" y="-27000"/>
                    <a:pt x="5983466" y="6147"/>
                  </a:cubicBezTo>
                  <a:lnTo>
                    <a:pt x="204966" y="1224966"/>
                  </a:lnTo>
                  <a:cubicBezTo>
                    <a:pt x="47740" y="1258113"/>
                    <a:pt x="-37350" y="1409243"/>
                    <a:pt x="15863" y="1560881"/>
                  </a:cubicBezTo>
                  <a:lnTo>
                    <a:pt x="1258431" y="5103673"/>
                  </a:lnTo>
                  <a:cubicBezTo>
                    <a:pt x="1311644" y="5255311"/>
                    <a:pt x="1486523" y="5379263"/>
                    <a:pt x="1647178" y="5379263"/>
                  </a:cubicBezTo>
                  <a:lnTo>
                    <a:pt x="5977116" y="5379390"/>
                  </a:lnTo>
                  <a:close/>
                </a:path>
              </a:pathLst>
            </a:custGeom>
            <a:blipFill>
              <a:blip r:embed="rId3"/>
              <a:stretch>
                <a:fillRect l="-105" r="-105"/>
              </a:stretch>
            </a:blipFill>
          </p:spPr>
        </p:sp>
      </p:grpSp>
      <p:sp>
        <p:nvSpPr>
          <p:cNvPr id="6" name="Freeform 6"/>
          <p:cNvSpPr/>
          <p:nvPr/>
        </p:nvSpPr>
        <p:spPr>
          <a:xfrm flipH="1">
            <a:off x="111018" y="-1203895"/>
            <a:ext cx="3761399" cy="5954917"/>
          </a:xfrm>
          <a:custGeom>
            <a:avLst/>
            <a:gdLst/>
            <a:ahLst/>
            <a:cxnLst/>
            <a:rect l="l" t="t" r="r" b="b"/>
            <a:pathLst>
              <a:path w="3761399" h="5954917">
                <a:moveTo>
                  <a:pt x="3761398" y="0"/>
                </a:moveTo>
                <a:lnTo>
                  <a:pt x="0" y="0"/>
                </a:lnTo>
                <a:lnTo>
                  <a:pt x="0" y="5954917"/>
                </a:lnTo>
                <a:lnTo>
                  <a:pt x="3761398" y="5954917"/>
                </a:lnTo>
                <a:lnTo>
                  <a:pt x="3761398" y="0"/>
                </a:lnTo>
                <a:close/>
              </a:path>
            </a:pathLst>
          </a:custGeom>
          <a:blipFill>
            <a:blip>
              <a:extLst>
                <a:ext uri="{96DAC541-7B7A-43D3-8B79-37D633B846F1}">
                  <asvg:svgBlip xmlns:asvg="http://schemas.microsoft.com/office/drawing/2016/SVG/main" r:embed="rId2"/>
                </a:ext>
              </a:extLst>
            </a:blip>
            <a:stretch>
              <a:fillRect t="-30812" r="-286682" b="-69025"/>
            </a:stretch>
          </a:blipFill>
        </p:spPr>
      </p:sp>
      <p:sp>
        <p:nvSpPr>
          <p:cNvPr id="7" name="TextBox 7"/>
          <p:cNvSpPr txBox="1"/>
          <p:nvPr/>
        </p:nvSpPr>
        <p:spPr>
          <a:xfrm>
            <a:off x="1028700" y="4903622"/>
            <a:ext cx="8939707" cy="1107963"/>
          </a:xfrm>
          <a:prstGeom prst="rect">
            <a:avLst/>
          </a:prstGeom>
        </p:spPr>
        <p:txBody>
          <a:bodyPr lIns="0" tIns="0" rIns="0" bIns="0" rtlCol="0" anchor="t">
            <a:spAutoFit/>
          </a:bodyPr>
          <a:lstStyle/>
          <a:p>
            <a:pPr marL="0" lvl="0" indent="0" algn="just">
              <a:lnSpc>
                <a:spcPts val="2981"/>
              </a:lnSpc>
            </a:pPr>
            <a:r>
              <a:rPr lang="en-US" sz="2129">
                <a:solidFill>
                  <a:srgbClr val="225A58"/>
                </a:solidFill>
                <a:latin typeface="Bricolage Grotesque"/>
                <a:ea typeface="Bricolage Grotesque"/>
                <a:cs typeface="Bricolage Grotesque"/>
                <a:sym typeface="Bricolage Grotesque"/>
              </a:rPr>
              <a:t>• Responsible for front-end design across the ADH ID Generation Software</a:t>
            </a:r>
          </a:p>
          <a:p>
            <a:pPr marL="0" lvl="0" indent="0" algn="just">
              <a:lnSpc>
                <a:spcPts val="2981"/>
              </a:lnSpc>
            </a:pPr>
            <a:r>
              <a:rPr lang="en-US" sz="2129">
                <a:solidFill>
                  <a:srgbClr val="225A58"/>
                </a:solidFill>
                <a:latin typeface="Bricolage Grotesque"/>
                <a:ea typeface="Bricolage Grotesque"/>
                <a:cs typeface="Bricolage Grotesque"/>
                <a:sym typeface="Bricolage Grotesque"/>
              </a:rPr>
              <a:t>• Translated product requirements into clear, structured user interfaces</a:t>
            </a:r>
          </a:p>
        </p:txBody>
      </p:sp>
      <p:sp>
        <p:nvSpPr>
          <p:cNvPr id="8" name="TextBox 8"/>
          <p:cNvSpPr txBox="1"/>
          <p:nvPr/>
        </p:nvSpPr>
        <p:spPr>
          <a:xfrm>
            <a:off x="1028700" y="6556115"/>
            <a:ext cx="8939707" cy="1479438"/>
          </a:xfrm>
          <a:prstGeom prst="rect">
            <a:avLst/>
          </a:prstGeom>
        </p:spPr>
        <p:txBody>
          <a:bodyPr lIns="0" tIns="0" rIns="0" bIns="0" rtlCol="0" anchor="t">
            <a:spAutoFit/>
          </a:bodyPr>
          <a:lstStyle/>
          <a:p>
            <a:pPr marL="0" lvl="0" indent="0" algn="just">
              <a:lnSpc>
                <a:spcPts val="2981"/>
              </a:lnSpc>
            </a:pPr>
            <a:r>
              <a:rPr lang="en-US" sz="2129">
                <a:solidFill>
                  <a:srgbClr val="225A58"/>
                </a:solidFill>
                <a:latin typeface="Bricolage Grotesque"/>
                <a:ea typeface="Bricolage Grotesque"/>
                <a:cs typeface="Bricolage Grotesque"/>
                <a:sym typeface="Bricolage Grotesque"/>
              </a:rPr>
              <a:t>• Focused on layout planning, visual consistency, and usability across screens</a:t>
            </a:r>
          </a:p>
          <a:p>
            <a:pPr marL="0" lvl="0" indent="0" algn="just">
              <a:lnSpc>
                <a:spcPts val="2981"/>
              </a:lnSpc>
            </a:pPr>
            <a:r>
              <a:rPr lang="en-US" sz="2129">
                <a:solidFill>
                  <a:srgbClr val="225A58"/>
                </a:solidFill>
                <a:latin typeface="Bricolage Grotesque"/>
                <a:ea typeface="Bricolage Grotesque"/>
                <a:cs typeface="Bricolage Grotesque"/>
                <a:sym typeface="Bricolage Grotesque"/>
              </a:rPr>
              <a:t>• Coordinated with developers to ensure accurate and practical design implementation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24167" y="4506738"/>
            <a:ext cx="3761399" cy="5954917"/>
          </a:xfrm>
          <a:custGeom>
            <a:avLst/>
            <a:gdLst/>
            <a:ahLst/>
            <a:cxnLst/>
            <a:rect l="l" t="t" r="r" b="b"/>
            <a:pathLst>
              <a:path w="3761399" h="5954917">
                <a:moveTo>
                  <a:pt x="3761398" y="0"/>
                </a:moveTo>
                <a:lnTo>
                  <a:pt x="0" y="0"/>
                </a:lnTo>
                <a:lnTo>
                  <a:pt x="0" y="5954918"/>
                </a:lnTo>
                <a:lnTo>
                  <a:pt x="3761398" y="5954918"/>
                </a:lnTo>
                <a:lnTo>
                  <a:pt x="3761398" y="0"/>
                </a:lnTo>
                <a:close/>
              </a:path>
            </a:pathLst>
          </a:custGeom>
          <a:blipFill>
            <a:blip>
              <a:extLst>
                <a:ext uri="{96DAC541-7B7A-43D3-8B79-37D633B846F1}">
                  <asvg:svgBlip xmlns:asvg="http://schemas.microsoft.com/office/drawing/2016/SVG/main" r:embed="rId2"/>
                </a:ext>
              </a:extLst>
            </a:blip>
            <a:stretch>
              <a:fillRect t="-30812" r="-286682" b="-69025"/>
            </a:stretch>
          </a:blipFill>
        </p:spPr>
      </p:sp>
      <p:sp>
        <p:nvSpPr>
          <p:cNvPr id="3" name="Freeform 3"/>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a:extLst>
                <a:ext uri="{96DAC541-7B7A-43D3-8B79-37D633B846F1}">
                  <asvg:svgBlip xmlns:asvg="http://schemas.microsoft.com/office/drawing/2016/SVG/main" r:embed="rId2"/>
                </a:ext>
              </a:extLst>
            </a:blip>
            <a:stretch>
              <a:fillRect l="-36235"/>
            </a:stretch>
          </a:blipFill>
        </p:spPr>
      </p:sp>
      <p:grpSp>
        <p:nvGrpSpPr>
          <p:cNvPr id="4" name="Group 4"/>
          <p:cNvGrpSpPr/>
          <p:nvPr/>
        </p:nvGrpSpPr>
        <p:grpSpPr>
          <a:xfrm>
            <a:off x="626933" y="4176936"/>
            <a:ext cx="4389496" cy="4389496"/>
            <a:chOff x="0" y="0"/>
            <a:chExt cx="6350000" cy="6350000"/>
          </a:xfrm>
        </p:grpSpPr>
        <p:sp>
          <p:nvSpPr>
            <p:cNvPr id="5" name="Freeform 5"/>
            <p:cNvSpPr/>
            <p:nvPr/>
          </p:nvSpPr>
          <p:spPr>
            <a:xfrm>
              <a:off x="0" y="0"/>
              <a:ext cx="6350000" cy="6350000"/>
            </a:xfrm>
            <a:custGeom>
              <a:avLst/>
              <a:gdLst/>
              <a:ahLst/>
              <a:cxnLst/>
              <a:rect l="l" t="t" r="r" b="b"/>
              <a:pathLst>
                <a:path w="6350000" h="6350000">
                  <a:moveTo>
                    <a:pt x="0" y="3484334"/>
                  </a:moveTo>
                  <a:lnTo>
                    <a:pt x="0" y="0"/>
                  </a:lnTo>
                  <a:lnTo>
                    <a:pt x="5404803" y="0"/>
                  </a:lnTo>
                  <a:cubicBezTo>
                    <a:pt x="5773928" y="369126"/>
                    <a:pt x="5980874" y="576072"/>
                    <a:pt x="6350000" y="945198"/>
                  </a:cubicBezTo>
                  <a:lnTo>
                    <a:pt x="6350000" y="6350000"/>
                  </a:lnTo>
                  <a:lnTo>
                    <a:pt x="2865666" y="6350000"/>
                  </a:lnTo>
                  <a:cubicBezTo>
                    <a:pt x="1746555" y="5230889"/>
                    <a:pt x="1119111" y="4603445"/>
                    <a:pt x="0" y="3484334"/>
                  </a:cubicBezTo>
                  <a:close/>
                </a:path>
              </a:pathLst>
            </a:custGeom>
            <a:blipFill>
              <a:blip r:embed="rId3"/>
              <a:stretch>
                <a:fillRect/>
              </a:stretch>
            </a:blipFill>
          </p:spPr>
        </p:sp>
      </p:grpSp>
      <p:sp>
        <p:nvSpPr>
          <p:cNvPr id="6" name="TextBox 6"/>
          <p:cNvSpPr txBox="1"/>
          <p:nvPr/>
        </p:nvSpPr>
        <p:spPr>
          <a:xfrm>
            <a:off x="4470777" y="1716916"/>
            <a:ext cx="13679505" cy="1930583"/>
          </a:xfrm>
          <a:prstGeom prst="rect">
            <a:avLst/>
          </a:prstGeom>
        </p:spPr>
        <p:txBody>
          <a:bodyPr lIns="0" tIns="0" rIns="0" bIns="0" rtlCol="0" anchor="t">
            <a:spAutoFit/>
          </a:bodyPr>
          <a:lstStyle/>
          <a:p>
            <a:pPr marL="0" lvl="0" indent="0" algn="l">
              <a:lnSpc>
                <a:spcPts val="7315"/>
              </a:lnSpc>
            </a:pPr>
            <a:r>
              <a:rPr lang="en-US" sz="7951" b="1">
                <a:solidFill>
                  <a:srgbClr val="5A8D1E"/>
                </a:solidFill>
                <a:latin typeface="Monda Bold"/>
                <a:ea typeface="Monda Bold"/>
                <a:cs typeface="Monda Bold"/>
                <a:sym typeface="Monda Bold"/>
              </a:rPr>
              <a:t>UNDERSTANDING THE PRODUCT</a:t>
            </a:r>
          </a:p>
        </p:txBody>
      </p:sp>
      <p:sp>
        <p:nvSpPr>
          <p:cNvPr id="7" name="TextBox 7"/>
          <p:cNvSpPr txBox="1"/>
          <p:nvPr/>
        </p:nvSpPr>
        <p:spPr>
          <a:xfrm>
            <a:off x="7935228" y="4129311"/>
            <a:ext cx="8939707" cy="1027242"/>
          </a:xfrm>
          <a:prstGeom prst="rect">
            <a:avLst/>
          </a:prstGeom>
        </p:spPr>
        <p:txBody>
          <a:bodyPr lIns="0" tIns="0" rIns="0" bIns="0" rtlCol="0" anchor="t">
            <a:spAutoFit/>
          </a:bodyPr>
          <a:lstStyle/>
          <a:p>
            <a:pPr marL="0" lvl="0" indent="0" algn="just">
              <a:lnSpc>
                <a:spcPts val="2705"/>
              </a:lnSpc>
            </a:pPr>
            <a:r>
              <a:rPr lang="en-US" sz="1932">
                <a:solidFill>
                  <a:srgbClr val="225A58"/>
                </a:solidFill>
                <a:latin typeface="Bricolage Grotesque"/>
                <a:ea typeface="Bricolage Grotesque"/>
                <a:cs typeface="Bricolage Grotesque"/>
                <a:sym typeface="Bricolage Grotesque"/>
              </a:rPr>
              <a:t>The ADH ID Generation Software is a web-based platform designed to centralize and simplify the creation of structured identity cards — giving organizations a single, reliable system to manage all ID-related operations.</a:t>
            </a:r>
          </a:p>
        </p:txBody>
      </p:sp>
      <p:sp>
        <p:nvSpPr>
          <p:cNvPr id="8" name="TextBox 8"/>
          <p:cNvSpPr txBox="1"/>
          <p:nvPr/>
        </p:nvSpPr>
        <p:spPr>
          <a:xfrm>
            <a:off x="6020218" y="6021792"/>
            <a:ext cx="8939707" cy="1027242"/>
          </a:xfrm>
          <a:prstGeom prst="rect">
            <a:avLst/>
          </a:prstGeom>
        </p:spPr>
        <p:txBody>
          <a:bodyPr lIns="0" tIns="0" rIns="0" bIns="0" rtlCol="0" anchor="t">
            <a:spAutoFit/>
          </a:bodyPr>
          <a:lstStyle/>
          <a:p>
            <a:pPr marL="0" lvl="0" indent="0" algn="just">
              <a:lnSpc>
                <a:spcPts val="2705"/>
              </a:lnSpc>
            </a:pPr>
            <a:r>
              <a:rPr lang="en-US" sz="1932">
                <a:solidFill>
                  <a:srgbClr val="225A58"/>
                </a:solidFill>
                <a:latin typeface="Bricolage Grotesque"/>
                <a:ea typeface="Bricolage Grotesque"/>
                <a:cs typeface="Bricolage Grotesque"/>
                <a:sym typeface="Bricolage Grotesque"/>
              </a:rPr>
              <a:t>Users interact with the platform to manage records (students, employees, parents), configure reusable ID templates, define structured workflows, and generate consistent, formatted ID outputs — all through a unified interface.</a:t>
            </a:r>
          </a:p>
        </p:txBody>
      </p:sp>
      <p:sp>
        <p:nvSpPr>
          <p:cNvPr id="9" name="TextBox 9"/>
          <p:cNvSpPr txBox="1"/>
          <p:nvPr/>
        </p:nvSpPr>
        <p:spPr>
          <a:xfrm>
            <a:off x="7935228" y="7912822"/>
            <a:ext cx="8939707" cy="1027242"/>
          </a:xfrm>
          <a:prstGeom prst="rect">
            <a:avLst/>
          </a:prstGeom>
        </p:spPr>
        <p:txBody>
          <a:bodyPr lIns="0" tIns="0" rIns="0" bIns="0" rtlCol="0" anchor="t">
            <a:spAutoFit/>
          </a:bodyPr>
          <a:lstStyle/>
          <a:p>
            <a:pPr marL="0" lvl="0" indent="0" algn="just">
              <a:lnSpc>
                <a:spcPts val="2705"/>
              </a:lnSpc>
            </a:pPr>
            <a:r>
              <a:rPr lang="en-US" sz="1932">
                <a:solidFill>
                  <a:srgbClr val="225A58"/>
                </a:solidFill>
                <a:latin typeface="Bricolage Grotesque"/>
                <a:ea typeface="Bricolage Grotesque"/>
                <a:cs typeface="Bricolage Grotesque"/>
                <a:sym typeface="Bricolage Grotesque"/>
              </a:rPr>
              <a:t>The core design challenge is making these complex, multi-step operations easy to follow. The interface must guide users through data entry, template selection, and output generation without confusion or repetitive manual effort.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96517" y="2639060"/>
            <a:ext cx="11372919" cy="702616"/>
          </a:xfrm>
          <a:prstGeom prst="rect">
            <a:avLst/>
          </a:prstGeom>
        </p:spPr>
        <p:txBody>
          <a:bodyPr lIns="0" tIns="0" rIns="0" bIns="0" rtlCol="0" anchor="t">
            <a:spAutoFit/>
          </a:bodyPr>
          <a:lstStyle/>
          <a:p>
            <a:pPr marL="0" lvl="0" indent="0" algn="l">
              <a:lnSpc>
                <a:spcPts val="5117"/>
              </a:lnSpc>
            </a:pPr>
            <a:r>
              <a:rPr lang="en-US" sz="5562" b="1">
                <a:solidFill>
                  <a:srgbClr val="5A8D1E"/>
                </a:solidFill>
                <a:latin typeface="Monda Bold"/>
                <a:ea typeface="Monda Bold"/>
                <a:cs typeface="Monda Bold"/>
                <a:sym typeface="Monda Bold"/>
              </a:rPr>
              <a:t>USER INTERFACE CHALLENGES</a:t>
            </a:r>
          </a:p>
        </p:txBody>
      </p:sp>
      <p:sp>
        <p:nvSpPr>
          <p:cNvPr id="3" name="Freeform 3"/>
          <p:cNvSpPr/>
          <p:nvPr/>
        </p:nvSpPr>
        <p:spPr>
          <a:xfrm flipV="1">
            <a:off x="13529354" y="537418"/>
            <a:ext cx="9517292" cy="10608512"/>
          </a:xfrm>
          <a:custGeom>
            <a:avLst/>
            <a:gdLst/>
            <a:ahLst/>
            <a:cxnLst/>
            <a:rect l="l" t="t" r="r" b="b"/>
            <a:pathLst>
              <a:path w="9517292" h="10608512">
                <a:moveTo>
                  <a:pt x="0" y="10608512"/>
                </a:moveTo>
                <a:lnTo>
                  <a:pt x="9517292" y="10608512"/>
                </a:lnTo>
                <a:lnTo>
                  <a:pt x="9517292" y="0"/>
                </a:lnTo>
                <a:lnTo>
                  <a:pt x="0" y="0"/>
                </a:lnTo>
                <a:lnTo>
                  <a:pt x="0" y="10608512"/>
                </a:lnTo>
                <a:close/>
              </a:path>
            </a:pathLst>
          </a:custGeom>
          <a:blipFill>
            <a:blip>
              <a:extLst>
                <a:ext uri="{96DAC541-7B7A-43D3-8B79-37D633B846F1}">
                  <asvg:svgBlip xmlns:asvg="http://schemas.microsoft.com/office/drawing/2016/SVG/main" r:embed="rId2"/>
                </a:ext>
              </a:extLst>
            </a:blip>
            <a:stretch>
              <a:fillRect l="-36235"/>
            </a:stretch>
          </a:blipFill>
        </p:spPr>
      </p:sp>
      <p:grpSp>
        <p:nvGrpSpPr>
          <p:cNvPr id="4" name="Group 4"/>
          <p:cNvGrpSpPr/>
          <p:nvPr/>
        </p:nvGrpSpPr>
        <p:grpSpPr>
          <a:xfrm>
            <a:off x="10818695" y="4011930"/>
            <a:ext cx="6440605" cy="5526520"/>
            <a:chOff x="0" y="0"/>
            <a:chExt cx="6269228" cy="5379466"/>
          </a:xfrm>
        </p:grpSpPr>
        <p:sp>
          <p:nvSpPr>
            <p:cNvPr id="5" name="Freeform 5"/>
            <p:cNvSpPr/>
            <p:nvPr/>
          </p:nvSpPr>
          <p:spPr>
            <a:xfrm>
              <a:off x="12" y="76"/>
              <a:ext cx="6269216" cy="5379390"/>
            </a:xfrm>
            <a:custGeom>
              <a:avLst/>
              <a:gdLst/>
              <a:ahLst/>
              <a:cxnLst/>
              <a:rect l="l" t="t" r="r" b="b"/>
              <a:pathLst>
                <a:path w="6269216" h="5379390">
                  <a:moveTo>
                    <a:pt x="5977116" y="5379390"/>
                  </a:moveTo>
                  <a:cubicBezTo>
                    <a:pt x="6137771" y="5379390"/>
                    <a:pt x="6269216" y="5247945"/>
                    <a:pt x="6269216" y="5087290"/>
                  </a:cubicBezTo>
                  <a:lnTo>
                    <a:pt x="6269216" y="237922"/>
                  </a:lnTo>
                  <a:cubicBezTo>
                    <a:pt x="6269216" y="77267"/>
                    <a:pt x="6140565" y="-27000"/>
                    <a:pt x="5983466" y="6147"/>
                  </a:cubicBezTo>
                  <a:lnTo>
                    <a:pt x="204966" y="1224966"/>
                  </a:lnTo>
                  <a:cubicBezTo>
                    <a:pt x="47740" y="1258113"/>
                    <a:pt x="-37350" y="1409243"/>
                    <a:pt x="15863" y="1560881"/>
                  </a:cubicBezTo>
                  <a:lnTo>
                    <a:pt x="1258431" y="5103673"/>
                  </a:lnTo>
                  <a:cubicBezTo>
                    <a:pt x="1311644" y="5255311"/>
                    <a:pt x="1486523" y="5379263"/>
                    <a:pt x="1647178" y="5379263"/>
                  </a:cubicBezTo>
                  <a:lnTo>
                    <a:pt x="5977116" y="5379390"/>
                  </a:lnTo>
                  <a:close/>
                </a:path>
              </a:pathLst>
            </a:custGeom>
            <a:blipFill>
              <a:blip r:embed="rId3"/>
              <a:stretch>
                <a:fillRect l="-105" r="-105"/>
              </a:stretch>
            </a:blipFill>
          </p:spPr>
        </p:sp>
      </p:grpSp>
      <p:sp>
        <p:nvSpPr>
          <p:cNvPr id="6" name="Freeform 6"/>
          <p:cNvSpPr/>
          <p:nvPr/>
        </p:nvSpPr>
        <p:spPr>
          <a:xfrm flipH="1">
            <a:off x="111018" y="-1203895"/>
            <a:ext cx="3761399" cy="5954917"/>
          </a:xfrm>
          <a:custGeom>
            <a:avLst/>
            <a:gdLst/>
            <a:ahLst/>
            <a:cxnLst/>
            <a:rect l="l" t="t" r="r" b="b"/>
            <a:pathLst>
              <a:path w="3761399" h="5954917">
                <a:moveTo>
                  <a:pt x="3761398" y="0"/>
                </a:moveTo>
                <a:lnTo>
                  <a:pt x="0" y="0"/>
                </a:lnTo>
                <a:lnTo>
                  <a:pt x="0" y="5954917"/>
                </a:lnTo>
                <a:lnTo>
                  <a:pt x="3761398" y="5954917"/>
                </a:lnTo>
                <a:lnTo>
                  <a:pt x="3761398" y="0"/>
                </a:lnTo>
                <a:close/>
              </a:path>
            </a:pathLst>
          </a:custGeom>
          <a:blipFill>
            <a:blip>
              <a:extLst>
                <a:ext uri="{96DAC541-7B7A-43D3-8B79-37D633B846F1}">
                  <asvg:svgBlip xmlns:asvg="http://schemas.microsoft.com/office/drawing/2016/SVG/main" r:embed="rId2"/>
                </a:ext>
              </a:extLst>
            </a:blip>
            <a:stretch>
              <a:fillRect t="-30812" r="-286682" b="-69025"/>
            </a:stretch>
          </a:blipFill>
        </p:spPr>
      </p:sp>
      <p:sp>
        <p:nvSpPr>
          <p:cNvPr id="7" name="TextBox 7"/>
          <p:cNvSpPr txBox="1"/>
          <p:nvPr/>
        </p:nvSpPr>
        <p:spPr>
          <a:xfrm>
            <a:off x="1028700" y="4903622"/>
            <a:ext cx="8939707" cy="1163055"/>
          </a:xfrm>
          <a:prstGeom prst="rect">
            <a:avLst/>
          </a:prstGeom>
        </p:spPr>
        <p:txBody>
          <a:bodyPr lIns="0" tIns="0" rIns="0" bIns="0" rtlCol="0" anchor="t">
            <a:spAutoFit/>
          </a:bodyPr>
          <a:lstStyle/>
          <a:p>
            <a:pPr marL="0" lvl="0" indent="0" algn="just">
              <a:lnSpc>
                <a:spcPts val="3094"/>
              </a:lnSpc>
            </a:pPr>
            <a:r>
              <a:rPr lang="en-US" sz="2210">
                <a:solidFill>
                  <a:srgbClr val="225A58"/>
                </a:solidFill>
                <a:latin typeface="Bricolage Grotesque"/>
                <a:ea typeface="Bricolage Grotesque"/>
                <a:cs typeface="Bricolage Grotesque"/>
                <a:sym typeface="Bricolage Grotesque"/>
              </a:rPr>
              <a:t>• Presenting many data fields clearly without overwhelming the user</a:t>
            </a:r>
          </a:p>
          <a:p>
            <a:pPr marL="0" lvl="0" indent="0" algn="just">
              <a:lnSpc>
                <a:spcPts val="3094"/>
              </a:lnSpc>
            </a:pPr>
            <a:r>
              <a:rPr lang="en-US" sz="2210">
                <a:solidFill>
                  <a:srgbClr val="225A58"/>
                </a:solidFill>
                <a:latin typeface="Bricolage Grotesque"/>
                <a:ea typeface="Bricolage Grotesque"/>
                <a:cs typeface="Bricolage Grotesque"/>
                <a:sym typeface="Bricolage Grotesque"/>
              </a:rPr>
              <a:t>• Reducing visual confusion across complex record management screens</a:t>
            </a:r>
          </a:p>
        </p:txBody>
      </p:sp>
      <p:sp>
        <p:nvSpPr>
          <p:cNvPr id="8" name="TextBox 8"/>
          <p:cNvSpPr txBox="1"/>
          <p:nvPr/>
        </p:nvSpPr>
        <p:spPr>
          <a:xfrm>
            <a:off x="1028700" y="6556115"/>
            <a:ext cx="8939707" cy="772530"/>
          </a:xfrm>
          <a:prstGeom prst="rect">
            <a:avLst/>
          </a:prstGeom>
        </p:spPr>
        <p:txBody>
          <a:bodyPr lIns="0" tIns="0" rIns="0" bIns="0" rtlCol="0" anchor="t">
            <a:spAutoFit/>
          </a:bodyPr>
          <a:lstStyle/>
          <a:p>
            <a:pPr marL="0" lvl="0" indent="0" algn="just">
              <a:lnSpc>
                <a:spcPts val="3094"/>
              </a:lnSpc>
            </a:pPr>
            <a:r>
              <a:rPr lang="en-US" sz="2210">
                <a:solidFill>
                  <a:srgbClr val="225A58"/>
                </a:solidFill>
                <a:latin typeface="Bricolage Grotesque"/>
                <a:ea typeface="Bricolage Grotesque"/>
                <a:cs typeface="Bricolage Grotesque"/>
                <a:sym typeface="Bricolage Grotesque"/>
              </a:rPr>
              <a:t>• Maintaining consistency across multiple screens and workflows</a:t>
            </a:r>
          </a:p>
          <a:p>
            <a:pPr marL="0" lvl="0" indent="0" algn="just">
              <a:lnSpc>
                <a:spcPts val="3094"/>
              </a:lnSpc>
            </a:pPr>
            <a:r>
              <a:rPr lang="en-US" sz="2210">
                <a:solidFill>
                  <a:srgbClr val="225A58"/>
                </a:solidFill>
                <a:latin typeface="Bricolage Grotesque"/>
                <a:ea typeface="Bricolage Grotesque"/>
                <a:cs typeface="Bricolage Grotesque"/>
                <a:sym typeface="Bricolage Grotesque"/>
              </a:rPr>
              <a:t>• Making ID generation workflows understandable and easy to follow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24167" y="4506738"/>
            <a:ext cx="3761399" cy="5954917"/>
          </a:xfrm>
          <a:custGeom>
            <a:avLst/>
            <a:gdLst/>
            <a:ahLst/>
            <a:cxnLst/>
            <a:rect l="l" t="t" r="r" b="b"/>
            <a:pathLst>
              <a:path w="3761399" h="5954917">
                <a:moveTo>
                  <a:pt x="3761398" y="0"/>
                </a:moveTo>
                <a:lnTo>
                  <a:pt x="0" y="0"/>
                </a:lnTo>
                <a:lnTo>
                  <a:pt x="0" y="5954918"/>
                </a:lnTo>
                <a:lnTo>
                  <a:pt x="3761398" y="5954918"/>
                </a:lnTo>
                <a:lnTo>
                  <a:pt x="3761398" y="0"/>
                </a:lnTo>
                <a:close/>
              </a:path>
            </a:pathLst>
          </a:custGeom>
          <a:blipFill>
            <a:blip>
              <a:extLst>
                <a:ext uri="{96DAC541-7B7A-43D3-8B79-37D633B846F1}">
                  <asvg:svgBlip xmlns:asvg="http://schemas.microsoft.com/office/drawing/2016/SVG/main" r:embed="rId2"/>
                </a:ext>
              </a:extLst>
            </a:blip>
            <a:stretch>
              <a:fillRect t="-30812" r="-286682" b="-69025"/>
            </a:stretch>
          </a:blipFill>
        </p:spPr>
      </p:sp>
      <p:sp>
        <p:nvSpPr>
          <p:cNvPr id="3" name="Freeform 3"/>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a:extLst>
                <a:ext uri="{96DAC541-7B7A-43D3-8B79-37D633B846F1}">
                  <asvg:svgBlip xmlns:asvg="http://schemas.microsoft.com/office/drawing/2016/SVG/main" r:embed="rId2"/>
                </a:ext>
              </a:extLst>
            </a:blip>
            <a:stretch>
              <a:fillRect l="-36235"/>
            </a:stretch>
          </a:blipFill>
        </p:spPr>
      </p:sp>
      <p:grpSp>
        <p:nvGrpSpPr>
          <p:cNvPr id="4" name="Group 4"/>
          <p:cNvGrpSpPr/>
          <p:nvPr/>
        </p:nvGrpSpPr>
        <p:grpSpPr>
          <a:xfrm>
            <a:off x="626933" y="4176936"/>
            <a:ext cx="4389496" cy="4389496"/>
            <a:chOff x="0" y="0"/>
            <a:chExt cx="6350000" cy="6350000"/>
          </a:xfrm>
        </p:grpSpPr>
        <p:sp>
          <p:nvSpPr>
            <p:cNvPr id="5" name="Freeform 5"/>
            <p:cNvSpPr/>
            <p:nvPr/>
          </p:nvSpPr>
          <p:spPr>
            <a:xfrm>
              <a:off x="0" y="0"/>
              <a:ext cx="6350000" cy="6350000"/>
            </a:xfrm>
            <a:custGeom>
              <a:avLst/>
              <a:gdLst/>
              <a:ahLst/>
              <a:cxnLst/>
              <a:rect l="l" t="t" r="r" b="b"/>
              <a:pathLst>
                <a:path w="6350000" h="6350000">
                  <a:moveTo>
                    <a:pt x="0" y="3484334"/>
                  </a:moveTo>
                  <a:lnTo>
                    <a:pt x="0" y="0"/>
                  </a:lnTo>
                  <a:lnTo>
                    <a:pt x="5404803" y="0"/>
                  </a:lnTo>
                  <a:cubicBezTo>
                    <a:pt x="5773928" y="369126"/>
                    <a:pt x="5980874" y="576072"/>
                    <a:pt x="6350000" y="945198"/>
                  </a:cubicBezTo>
                  <a:lnTo>
                    <a:pt x="6350000" y="6350000"/>
                  </a:lnTo>
                  <a:lnTo>
                    <a:pt x="2865666" y="6350000"/>
                  </a:lnTo>
                  <a:cubicBezTo>
                    <a:pt x="1746555" y="5230889"/>
                    <a:pt x="1119111" y="4603445"/>
                    <a:pt x="0" y="3484334"/>
                  </a:cubicBezTo>
                  <a:close/>
                </a:path>
              </a:pathLst>
            </a:custGeom>
            <a:blipFill>
              <a:blip r:embed="rId3"/>
              <a:stretch>
                <a:fillRect/>
              </a:stretch>
            </a:blipFill>
          </p:spPr>
        </p:sp>
      </p:grpSp>
      <p:sp>
        <p:nvSpPr>
          <p:cNvPr id="6" name="TextBox 6"/>
          <p:cNvSpPr txBox="1"/>
          <p:nvPr/>
        </p:nvSpPr>
        <p:spPr>
          <a:xfrm>
            <a:off x="4185565" y="2115087"/>
            <a:ext cx="14679267" cy="985653"/>
          </a:xfrm>
          <a:prstGeom prst="rect">
            <a:avLst/>
          </a:prstGeom>
        </p:spPr>
        <p:txBody>
          <a:bodyPr lIns="0" tIns="0" rIns="0" bIns="0" rtlCol="0" anchor="t">
            <a:spAutoFit/>
          </a:bodyPr>
          <a:lstStyle/>
          <a:p>
            <a:pPr marL="0" lvl="0" indent="0" algn="just">
              <a:lnSpc>
                <a:spcPts val="7264"/>
              </a:lnSpc>
            </a:pPr>
            <a:r>
              <a:rPr lang="en-US" sz="7896" b="1">
                <a:solidFill>
                  <a:srgbClr val="5A8D1E"/>
                </a:solidFill>
                <a:latin typeface="Monda Bold"/>
                <a:ea typeface="Monda Bold"/>
                <a:cs typeface="Monda Bold"/>
                <a:sym typeface="Monda Bold"/>
              </a:rPr>
              <a:t>MY DESIGN CONTRIBUTION</a:t>
            </a:r>
          </a:p>
        </p:txBody>
      </p:sp>
      <p:sp>
        <p:nvSpPr>
          <p:cNvPr id="7" name="TextBox 7"/>
          <p:cNvSpPr txBox="1"/>
          <p:nvPr/>
        </p:nvSpPr>
        <p:spPr>
          <a:xfrm>
            <a:off x="7935228" y="4138836"/>
            <a:ext cx="8939707" cy="990386"/>
          </a:xfrm>
          <a:prstGeom prst="rect">
            <a:avLst/>
          </a:prstGeom>
        </p:spPr>
        <p:txBody>
          <a:bodyPr lIns="0" tIns="0" rIns="0" bIns="0" rtlCol="0" anchor="t">
            <a:spAutoFit/>
          </a:bodyPr>
          <a:lstStyle/>
          <a:p>
            <a:pPr marL="0" lvl="0" indent="0" algn="just">
              <a:lnSpc>
                <a:spcPts val="2636"/>
              </a:lnSpc>
            </a:pPr>
            <a:r>
              <a:rPr lang="en-US" sz="1883">
                <a:solidFill>
                  <a:srgbClr val="225A58"/>
                </a:solidFill>
                <a:latin typeface="Bricolage Grotesque"/>
                <a:ea typeface="Bricolage Grotesque"/>
                <a:cs typeface="Bricolage Grotesque"/>
                <a:sym typeface="Bricolage Grotesque"/>
              </a:rPr>
              <a:t>• Led screen and layout planning for key modules of the ID generation platform</a:t>
            </a:r>
          </a:p>
          <a:p>
            <a:pPr marL="0" lvl="0" indent="0" algn="just">
              <a:lnSpc>
                <a:spcPts val="2636"/>
              </a:lnSpc>
            </a:pPr>
            <a:r>
              <a:rPr lang="en-US" sz="1883">
                <a:solidFill>
                  <a:srgbClr val="225A58"/>
                </a:solidFill>
                <a:latin typeface="Bricolage Grotesque"/>
                <a:ea typeface="Bricolage Grotesque"/>
                <a:cs typeface="Bricolage Grotesque"/>
                <a:sym typeface="Bricolage Grotesque"/>
              </a:rPr>
              <a:t>• Designed navigation structure to support intuitive user flow across the system</a:t>
            </a:r>
          </a:p>
          <a:p>
            <a:pPr marL="0" lvl="0" indent="0" algn="just">
              <a:lnSpc>
                <a:spcPts val="2636"/>
              </a:lnSpc>
            </a:pPr>
            <a:r>
              <a:rPr lang="en-US" sz="1883">
                <a:solidFill>
                  <a:srgbClr val="225A58"/>
                </a:solidFill>
                <a:latin typeface="Bricolage Grotesque"/>
                <a:ea typeface="Bricolage Grotesque"/>
                <a:cs typeface="Bricolage Grotesque"/>
                <a:sym typeface="Bricolage Grotesque"/>
              </a:rPr>
              <a:t>• Organized form layouts to reduce complexity and improve data entry clarity</a:t>
            </a:r>
          </a:p>
        </p:txBody>
      </p:sp>
      <p:sp>
        <p:nvSpPr>
          <p:cNvPr id="8" name="TextBox 8"/>
          <p:cNvSpPr txBox="1"/>
          <p:nvPr/>
        </p:nvSpPr>
        <p:spPr>
          <a:xfrm>
            <a:off x="6020218" y="6031317"/>
            <a:ext cx="8939707" cy="990386"/>
          </a:xfrm>
          <a:prstGeom prst="rect">
            <a:avLst/>
          </a:prstGeom>
        </p:spPr>
        <p:txBody>
          <a:bodyPr lIns="0" tIns="0" rIns="0" bIns="0" rtlCol="0" anchor="t">
            <a:spAutoFit/>
          </a:bodyPr>
          <a:lstStyle/>
          <a:p>
            <a:pPr marL="0" lvl="0" indent="0" algn="just">
              <a:lnSpc>
                <a:spcPts val="2636"/>
              </a:lnSpc>
            </a:pPr>
            <a:r>
              <a:rPr lang="en-US" sz="1883">
                <a:solidFill>
                  <a:srgbClr val="225A58"/>
                </a:solidFill>
                <a:latin typeface="Bricolage Grotesque"/>
                <a:ea typeface="Bricolage Grotesque"/>
                <a:cs typeface="Bricolage Grotesque"/>
                <a:sym typeface="Bricolage Grotesque"/>
              </a:rPr>
              <a:t>• Established visual hierarchy to guide users through multi-step workflows</a:t>
            </a:r>
          </a:p>
          <a:p>
            <a:pPr marL="0" lvl="0" indent="0" algn="just">
              <a:lnSpc>
                <a:spcPts val="2636"/>
              </a:lnSpc>
            </a:pPr>
            <a:r>
              <a:rPr lang="en-US" sz="1883">
                <a:solidFill>
                  <a:srgbClr val="225A58"/>
                </a:solidFill>
                <a:latin typeface="Bricolage Grotesque"/>
                <a:ea typeface="Bricolage Grotesque"/>
                <a:cs typeface="Bricolage Grotesque"/>
                <a:sym typeface="Bricolage Grotesque"/>
              </a:rPr>
              <a:t>• Developed reusable interface patterns to ensure consistency across screens</a:t>
            </a:r>
          </a:p>
          <a:p>
            <a:pPr marL="0" lvl="0" indent="0" algn="just">
              <a:lnSpc>
                <a:spcPts val="2636"/>
              </a:lnSpc>
            </a:pPr>
            <a:r>
              <a:rPr lang="en-US" sz="1883">
                <a:solidFill>
                  <a:srgbClr val="225A58"/>
                </a:solidFill>
                <a:latin typeface="Bricolage Grotesque"/>
                <a:ea typeface="Bricolage Grotesque"/>
                <a:cs typeface="Bricolage Grotesque"/>
                <a:sym typeface="Bricolage Grotesque"/>
              </a:rPr>
              <a:t>• Conducted usability refinement through iteration and developer collaboration</a:t>
            </a:r>
          </a:p>
        </p:txBody>
      </p:sp>
      <p:sp>
        <p:nvSpPr>
          <p:cNvPr id="9" name="TextBox 9"/>
          <p:cNvSpPr txBox="1"/>
          <p:nvPr/>
        </p:nvSpPr>
        <p:spPr>
          <a:xfrm>
            <a:off x="7935228" y="7922347"/>
            <a:ext cx="8939707" cy="1323761"/>
          </a:xfrm>
          <a:prstGeom prst="rect">
            <a:avLst/>
          </a:prstGeom>
        </p:spPr>
        <p:txBody>
          <a:bodyPr lIns="0" tIns="0" rIns="0" bIns="0" rtlCol="0" anchor="t">
            <a:spAutoFit/>
          </a:bodyPr>
          <a:lstStyle/>
          <a:p>
            <a:pPr marL="0" lvl="0" indent="0" algn="just">
              <a:lnSpc>
                <a:spcPts val="2636"/>
              </a:lnSpc>
            </a:pPr>
            <a:r>
              <a:rPr lang="en-US" sz="1883">
                <a:solidFill>
                  <a:srgbClr val="225A58"/>
                </a:solidFill>
                <a:latin typeface="Bricolage Grotesque"/>
                <a:ea typeface="Bricolage Grotesque"/>
                <a:cs typeface="Bricolage Grotesque"/>
                <a:sym typeface="Bricolage Grotesque"/>
              </a:rPr>
              <a:t>As Front End Designer Intern at ADH Enterprises, Modassir Husain contributed directly to the design of the ADH ID Generation Software — translating product requirements into structured, user-friendly interfaces through planning, pattern development, and close collaboration with the development team.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24167" y="4506738"/>
            <a:ext cx="3761399" cy="5954917"/>
          </a:xfrm>
          <a:custGeom>
            <a:avLst/>
            <a:gdLst/>
            <a:ahLst/>
            <a:cxnLst/>
            <a:rect l="l" t="t" r="r" b="b"/>
            <a:pathLst>
              <a:path w="3761399" h="5954917">
                <a:moveTo>
                  <a:pt x="3761398" y="0"/>
                </a:moveTo>
                <a:lnTo>
                  <a:pt x="0" y="0"/>
                </a:lnTo>
                <a:lnTo>
                  <a:pt x="0" y="5954918"/>
                </a:lnTo>
                <a:lnTo>
                  <a:pt x="3761398" y="5954918"/>
                </a:lnTo>
                <a:lnTo>
                  <a:pt x="3761398" y="0"/>
                </a:lnTo>
                <a:close/>
              </a:path>
            </a:pathLst>
          </a:custGeom>
          <a:blipFill>
            <a:blip>
              <a:extLst>
                <a:ext uri="{96DAC541-7B7A-43D3-8B79-37D633B846F1}">
                  <asvg:svgBlip xmlns:asvg="http://schemas.microsoft.com/office/drawing/2016/SVG/main" r:embed="rId2"/>
                </a:ext>
              </a:extLst>
            </a:blip>
            <a:stretch>
              <a:fillRect t="-30812" r="-286682" b="-69025"/>
            </a:stretch>
          </a:blipFill>
        </p:spPr>
      </p:sp>
      <p:sp>
        <p:nvSpPr>
          <p:cNvPr id="3" name="Freeform 3"/>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a:extLst>
                <a:ext uri="{96DAC541-7B7A-43D3-8B79-37D633B846F1}">
                  <asvg:svgBlip xmlns:asvg="http://schemas.microsoft.com/office/drawing/2016/SVG/main" r:embed="rId2"/>
                </a:ext>
              </a:extLst>
            </a:blip>
            <a:stretch>
              <a:fillRect l="-36235"/>
            </a:stretch>
          </a:blipFill>
        </p:spPr>
      </p:sp>
      <p:grpSp>
        <p:nvGrpSpPr>
          <p:cNvPr id="4" name="Group 4"/>
          <p:cNvGrpSpPr/>
          <p:nvPr/>
        </p:nvGrpSpPr>
        <p:grpSpPr>
          <a:xfrm>
            <a:off x="626933" y="4176936"/>
            <a:ext cx="4389496" cy="4389496"/>
            <a:chOff x="0" y="0"/>
            <a:chExt cx="6350000" cy="6350000"/>
          </a:xfrm>
        </p:grpSpPr>
        <p:sp>
          <p:nvSpPr>
            <p:cNvPr id="5" name="Freeform 5"/>
            <p:cNvSpPr/>
            <p:nvPr/>
          </p:nvSpPr>
          <p:spPr>
            <a:xfrm>
              <a:off x="0" y="0"/>
              <a:ext cx="6350000" cy="6350000"/>
            </a:xfrm>
            <a:custGeom>
              <a:avLst/>
              <a:gdLst/>
              <a:ahLst/>
              <a:cxnLst/>
              <a:rect l="l" t="t" r="r" b="b"/>
              <a:pathLst>
                <a:path w="6350000" h="6350000">
                  <a:moveTo>
                    <a:pt x="0" y="3484334"/>
                  </a:moveTo>
                  <a:lnTo>
                    <a:pt x="0" y="0"/>
                  </a:lnTo>
                  <a:lnTo>
                    <a:pt x="5404803" y="0"/>
                  </a:lnTo>
                  <a:cubicBezTo>
                    <a:pt x="5773928" y="369126"/>
                    <a:pt x="5980874" y="576072"/>
                    <a:pt x="6350000" y="945198"/>
                  </a:cubicBezTo>
                  <a:lnTo>
                    <a:pt x="6350000" y="6350000"/>
                  </a:lnTo>
                  <a:lnTo>
                    <a:pt x="2865666" y="6350000"/>
                  </a:lnTo>
                  <a:cubicBezTo>
                    <a:pt x="1746555" y="5230889"/>
                    <a:pt x="1119111" y="4603445"/>
                    <a:pt x="0" y="3484334"/>
                  </a:cubicBezTo>
                  <a:close/>
                </a:path>
              </a:pathLst>
            </a:custGeom>
            <a:blipFill>
              <a:blip r:embed="rId3"/>
              <a:stretch>
                <a:fillRect/>
              </a:stretch>
            </a:blipFill>
          </p:spPr>
        </p:sp>
      </p:grpSp>
      <p:sp>
        <p:nvSpPr>
          <p:cNvPr id="6" name="TextBox 6"/>
          <p:cNvSpPr txBox="1"/>
          <p:nvPr/>
        </p:nvSpPr>
        <p:spPr>
          <a:xfrm>
            <a:off x="3915647" y="2494821"/>
            <a:ext cx="14381878" cy="863384"/>
          </a:xfrm>
          <a:prstGeom prst="rect">
            <a:avLst/>
          </a:prstGeom>
        </p:spPr>
        <p:txBody>
          <a:bodyPr lIns="0" tIns="0" rIns="0" bIns="0" rtlCol="0" anchor="t">
            <a:spAutoFit/>
          </a:bodyPr>
          <a:lstStyle/>
          <a:p>
            <a:pPr marL="0" lvl="0" indent="0" algn="l">
              <a:lnSpc>
                <a:spcPts val="6319"/>
              </a:lnSpc>
            </a:pPr>
            <a:r>
              <a:rPr lang="en-US" sz="6868" b="1">
                <a:solidFill>
                  <a:srgbClr val="5A8D1E"/>
                </a:solidFill>
                <a:latin typeface="Monda Bold"/>
                <a:ea typeface="Monda Bold"/>
                <a:cs typeface="Monda Bold"/>
                <a:sym typeface="Monda Bold"/>
              </a:rPr>
              <a:t>INTERFACE DESIGN APPROACH</a:t>
            </a:r>
          </a:p>
        </p:txBody>
      </p:sp>
      <p:sp>
        <p:nvSpPr>
          <p:cNvPr id="7" name="TextBox 7"/>
          <p:cNvSpPr txBox="1"/>
          <p:nvPr/>
        </p:nvSpPr>
        <p:spPr>
          <a:xfrm>
            <a:off x="7935228" y="4148361"/>
            <a:ext cx="8939707" cy="1130461"/>
          </a:xfrm>
          <a:prstGeom prst="rect">
            <a:avLst/>
          </a:prstGeom>
        </p:spPr>
        <p:txBody>
          <a:bodyPr lIns="0" tIns="0" rIns="0" bIns="0" rtlCol="0" anchor="t">
            <a:spAutoFit/>
          </a:bodyPr>
          <a:lstStyle/>
          <a:p>
            <a:pPr marL="0" lvl="0" indent="0" algn="just">
              <a:lnSpc>
                <a:spcPts val="2266"/>
              </a:lnSpc>
            </a:pPr>
            <a:r>
              <a:rPr lang="en-US" sz="1618">
                <a:solidFill>
                  <a:srgbClr val="225A58"/>
                </a:solidFill>
                <a:latin typeface="Bricolage Grotesque"/>
                <a:ea typeface="Bricolage Grotesque"/>
                <a:cs typeface="Bricolage Grotesque"/>
                <a:sym typeface="Bricolage Grotesque"/>
              </a:rPr>
              <a:t>Understand Requirement → Map User Task → Structure Information: Every design decision began with a clear understanding of what the feature needed to achieve. From there, user tasks were mapped out to identify the logical flow, and information was structured to reduce cognitive load before any screen layout was drafted.</a:t>
            </a:r>
          </a:p>
        </p:txBody>
      </p:sp>
      <p:sp>
        <p:nvSpPr>
          <p:cNvPr id="8" name="TextBox 8"/>
          <p:cNvSpPr txBox="1"/>
          <p:nvPr/>
        </p:nvSpPr>
        <p:spPr>
          <a:xfrm>
            <a:off x="6020218" y="6040842"/>
            <a:ext cx="8939707" cy="1130461"/>
          </a:xfrm>
          <a:prstGeom prst="rect">
            <a:avLst/>
          </a:prstGeom>
        </p:spPr>
        <p:txBody>
          <a:bodyPr lIns="0" tIns="0" rIns="0" bIns="0" rtlCol="0" anchor="t">
            <a:spAutoFit/>
          </a:bodyPr>
          <a:lstStyle/>
          <a:p>
            <a:pPr marL="0" lvl="0" indent="0" algn="just">
              <a:lnSpc>
                <a:spcPts val="2266"/>
              </a:lnSpc>
            </a:pPr>
            <a:r>
              <a:rPr lang="en-US" sz="1618">
                <a:solidFill>
                  <a:srgbClr val="225A58"/>
                </a:solidFill>
                <a:latin typeface="Bricolage Grotesque"/>
                <a:ea typeface="Bricolage Grotesque"/>
                <a:cs typeface="Bricolage Grotesque"/>
                <a:sym typeface="Bricolage Grotesque"/>
              </a:rPr>
              <a:t>Design Screen Layout → Refine Visual Hierarchy: With a structured foundation in place, screen layouts were composed to guide the user's eye naturally through each interface. Visual hierarchy was then refined — adjusting spacing, grouping, and emphasis — to ensure the most important elements received appropriate attention.</a:t>
            </a:r>
          </a:p>
        </p:txBody>
      </p:sp>
      <p:sp>
        <p:nvSpPr>
          <p:cNvPr id="9" name="TextBox 9"/>
          <p:cNvSpPr txBox="1"/>
          <p:nvPr/>
        </p:nvSpPr>
        <p:spPr>
          <a:xfrm>
            <a:off x="7935228" y="7931872"/>
            <a:ext cx="8939707" cy="1130461"/>
          </a:xfrm>
          <a:prstGeom prst="rect">
            <a:avLst/>
          </a:prstGeom>
        </p:spPr>
        <p:txBody>
          <a:bodyPr lIns="0" tIns="0" rIns="0" bIns="0" rtlCol="0" anchor="t">
            <a:spAutoFit/>
          </a:bodyPr>
          <a:lstStyle/>
          <a:p>
            <a:pPr marL="0" lvl="0" indent="0" algn="just">
              <a:lnSpc>
                <a:spcPts val="2266"/>
              </a:lnSpc>
            </a:pPr>
            <a:r>
              <a:rPr lang="en-US" sz="1618">
                <a:solidFill>
                  <a:srgbClr val="225A58"/>
                </a:solidFill>
                <a:latin typeface="Bricolage Grotesque"/>
                <a:ea typeface="Bricolage Grotesque"/>
                <a:cs typeface="Bricolage Grotesque"/>
                <a:sym typeface="Bricolage Grotesque"/>
              </a:rPr>
              <a:t>Review with Development → Iterate &amp; Improve: Completed layouts were reviewed collaboratively with the development team to validate feasibility and alignment with technical constraints. Feedback from these sessions informed iterative improvements, ensuring the final implemented screens remained faithful to the intended design logic and usability goals.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96517" y="2658110"/>
            <a:ext cx="11372919" cy="722557"/>
          </a:xfrm>
          <a:prstGeom prst="rect">
            <a:avLst/>
          </a:prstGeom>
        </p:spPr>
        <p:txBody>
          <a:bodyPr lIns="0" tIns="0" rIns="0" bIns="0" rtlCol="0" anchor="t">
            <a:spAutoFit/>
          </a:bodyPr>
          <a:lstStyle/>
          <a:p>
            <a:pPr marL="0" lvl="0" indent="0" algn="l">
              <a:lnSpc>
                <a:spcPts val="5386"/>
              </a:lnSpc>
            </a:pPr>
            <a:r>
              <a:rPr lang="en-US" sz="5855" b="1">
                <a:solidFill>
                  <a:srgbClr val="5A8D1E"/>
                </a:solidFill>
                <a:latin typeface="Monda Bold"/>
                <a:ea typeface="Monda Bold"/>
                <a:cs typeface="Monda Bold"/>
                <a:sym typeface="Monda Bold"/>
              </a:rPr>
              <a:t>KEY UI PRINCIPLES APPLIED</a:t>
            </a:r>
          </a:p>
        </p:txBody>
      </p:sp>
      <p:sp>
        <p:nvSpPr>
          <p:cNvPr id="3" name="Freeform 3"/>
          <p:cNvSpPr/>
          <p:nvPr/>
        </p:nvSpPr>
        <p:spPr>
          <a:xfrm flipV="1">
            <a:off x="13529354" y="537418"/>
            <a:ext cx="9517292" cy="10608512"/>
          </a:xfrm>
          <a:custGeom>
            <a:avLst/>
            <a:gdLst/>
            <a:ahLst/>
            <a:cxnLst/>
            <a:rect l="l" t="t" r="r" b="b"/>
            <a:pathLst>
              <a:path w="9517292" h="10608512">
                <a:moveTo>
                  <a:pt x="0" y="10608512"/>
                </a:moveTo>
                <a:lnTo>
                  <a:pt x="9517292" y="10608512"/>
                </a:lnTo>
                <a:lnTo>
                  <a:pt x="9517292" y="0"/>
                </a:lnTo>
                <a:lnTo>
                  <a:pt x="0" y="0"/>
                </a:lnTo>
                <a:lnTo>
                  <a:pt x="0" y="10608512"/>
                </a:lnTo>
                <a:close/>
              </a:path>
            </a:pathLst>
          </a:custGeom>
          <a:blipFill>
            <a:blip>
              <a:extLst>
                <a:ext uri="{96DAC541-7B7A-43D3-8B79-37D633B846F1}">
                  <asvg:svgBlip xmlns:asvg="http://schemas.microsoft.com/office/drawing/2016/SVG/main" r:embed="rId2"/>
                </a:ext>
              </a:extLst>
            </a:blip>
            <a:stretch>
              <a:fillRect l="-36235"/>
            </a:stretch>
          </a:blipFill>
        </p:spPr>
      </p:sp>
      <p:grpSp>
        <p:nvGrpSpPr>
          <p:cNvPr id="4" name="Group 4"/>
          <p:cNvGrpSpPr/>
          <p:nvPr/>
        </p:nvGrpSpPr>
        <p:grpSpPr>
          <a:xfrm>
            <a:off x="10818695" y="4011930"/>
            <a:ext cx="6440605" cy="5526520"/>
            <a:chOff x="0" y="0"/>
            <a:chExt cx="6269228" cy="5379466"/>
          </a:xfrm>
        </p:grpSpPr>
        <p:sp>
          <p:nvSpPr>
            <p:cNvPr id="5" name="Freeform 5"/>
            <p:cNvSpPr/>
            <p:nvPr/>
          </p:nvSpPr>
          <p:spPr>
            <a:xfrm>
              <a:off x="12" y="76"/>
              <a:ext cx="6269216" cy="5379390"/>
            </a:xfrm>
            <a:custGeom>
              <a:avLst/>
              <a:gdLst/>
              <a:ahLst/>
              <a:cxnLst/>
              <a:rect l="l" t="t" r="r" b="b"/>
              <a:pathLst>
                <a:path w="6269216" h="5379390">
                  <a:moveTo>
                    <a:pt x="5977116" y="5379390"/>
                  </a:moveTo>
                  <a:cubicBezTo>
                    <a:pt x="6137771" y="5379390"/>
                    <a:pt x="6269216" y="5247945"/>
                    <a:pt x="6269216" y="5087290"/>
                  </a:cubicBezTo>
                  <a:lnTo>
                    <a:pt x="6269216" y="237922"/>
                  </a:lnTo>
                  <a:cubicBezTo>
                    <a:pt x="6269216" y="77267"/>
                    <a:pt x="6140565" y="-27000"/>
                    <a:pt x="5983466" y="6147"/>
                  </a:cubicBezTo>
                  <a:lnTo>
                    <a:pt x="204966" y="1224966"/>
                  </a:lnTo>
                  <a:cubicBezTo>
                    <a:pt x="47740" y="1258113"/>
                    <a:pt x="-37350" y="1409243"/>
                    <a:pt x="15863" y="1560881"/>
                  </a:cubicBezTo>
                  <a:lnTo>
                    <a:pt x="1258431" y="5103673"/>
                  </a:lnTo>
                  <a:cubicBezTo>
                    <a:pt x="1311644" y="5255311"/>
                    <a:pt x="1486523" y="5379263"/>
                    <a:pt x="1647178" y="5379263"/>
                  </a:cubicBezTo>
                  <a:lnTo>
                    <a:pt x="5977116" y="5379390"/>
                  </a:lnTo>
                  <a:close/>
                </a:path>
              </a:pathLst>
            </a:custGeom>
            <a:blipFill>
              <a:blip r:embed="rId3"/>
              <a:stretch>
                <a:fillRect l="-105" r="-105"/>
              </a:stretch>
            </a:blipFill>
          </p:spPr>
        </p:sp>
      </p:grpSp>
      <p:sp>
        <p:nvSpPr>
          <p:cNvPr id="6" name="Freeform 6"/>
          <p:cNvSpPr/>
          <p:nvPr/>
        </p:nvSpPr>
        <p:spPr>
          <a:xfrm flipH="1">
            <a:off x="111018" y="-1203895"/>
            <a:ext cx="3761399" cy="5954917"/>
          </a:xfrm>
          <a:custGeom>
            <a:avLst/>
            <a:gdLst/>
            <a:ahLst/>
            <a:cxnLst/>
            <a:rect l="l" t="t" r="r" b="b"/>
            <a:pathLst>
              <a:path w="3761399" h="5954917">
                <a:moveTo>
                  <a:pt x="3761398" y="0"/>
                </a:moveTo>
                <a:lnTo>
                  <a:pt x="0" y="0"/>
                </a:lnTo>
                <a:lnTo>
                  <a:pt x="0" y="5954917"/>
                </a:lnTo>
                <a:lnTo>
                  <a:pt x="3761398" y="5954917"/>
                </a:lnTo>
                <a:lnTo>
                  <a:pt x="3761398" y="0"/>
                </a:lnTo>
                <a:close/>
              </a:path>
            </a:pathLst>
          </a:custGeom>
          <a:blipFill>
            <a:blip>
              <a:extLst>
                <a:ext uri="{96DAC541-7B7A-43D3-8B79-37D633B846F1}">
                  <asvg:svgBlip xmlns:asvg="http://schemas.microsoft.com/office/drawing/2016/SVG/main" r:embed="rId2"/>
                </a:ext>
              </a:extLst>
            </a:blip>
            <a:stretch>
              <a:fillRect t="-30812" r="-286682" b="-69025"/>
            </a:stretch>
          </a:blipFill>
        </p:spPr>
      </p:sp>
      <p:sp>
        <p:nvSpPr>
          <p:cNvPr id="7" name="TextBox 7"/>
          <p:cNvSpPr txBox="1"/>
          <p:nvPr/>
        </p:nvSpPr>
        <p:spPr>
          <a:xfrm>
            <a:off x="1028700" y="4913147"/>
            <a:ext cx="8939707" cy="1044978"/>
          </a:xfrm>
          <a:prstGeom prst="rect">
            <a:avLst/>
          </a:prstGeom>
        </p:spPr>
        <p:txBody>
          <a:bodyPr lIns="0" tIns="0" rIns="0" bIns="0" rtlCol="0" anchor="t">
            <a:spAutoFit/>
          </a:bodyPr>
          <a:lstStyle/>
          <a:p>
            <a:pPr marL="0" lvl="0" indent="0" algn="just">
              <a:lnSpc>
                <a:spcPts val="2777"/>
              </a:lnSpc>
            </a:pPr>
            <a:r>
              <a:rPr lang="en-US" sz="1984">
                <a:solidFill>
                  <a:srgbClr val="225A58"/>
                </a:solidFill>
                <a:latin typeface="Bricolage Grotesque"/>
                <a:ea typeface="Bricolage Grotesque"/>
                <a:cs typeface="Bricolage Grotesque"/>
                <a:sym typeface="Bricolage Grotesque"/>
              </a:rPr>
              <a:t>• Clarity: keeping interfaces clean and easy to read at a glance</a:t>
            </a:r>
          </a:p>
          <a:p>
            <a:pPr marL="0" lvl="0" indent="0" algn="just">
              <a:lnSpc>
                <a:spcPts val="2777"/>
              </a:lnSpc>
            </a:pPr>
            <a:r>
              <a:rPr lang="en-US" sz="1984">
                <a:solidFill>
                  <a:srgbClr val="225A58"/>
                </a:solidFill>
                <a:latin typeface="Bricolage Grotesque"/>
                <a:ea typeface="Bricolage Grotesque"/>
                <a:cs typeface="Bricolage Grotesque"/>
                <a:sym typeface="Bricolage Grotesque"/>
              </a:rPr>
              <a:t>• Consistency: uniform patterns, colors, and controls across all screens</a:t>
            </a:r>
          </a:p>
          <a:p>
            <a:pPr marL="0" lvl="0" indent="0" algn="just">
              <a:lnSpc>
                <a:spcPts val="2777"/>
              </a:lnSpc>
            </a:pPr>
            <a:r>
              <a:rPr lang="en-US" sz="1984">
                <a:solidFill>
                  <a:srgbClr val="225A58"/>
                </a:solidFill>
                <a:latin typeface="Bricolage Grotesque"/>
                <a:ea typeface="Bricolage Grotesque"/>
                <a:cs typeface="Bricolage Grotesque"/>
                <a:sym typeface="Bricolage Grotesque"/>
              </a:rPr>
              <a:t>• Spacing &amp; Alignment: structured layouts that guide the user's eye naturally</a:t>
            </a:r>
          </a:p>
        </p:txBody>
      </p:sp>
      <p:sp>
        <p:nvSpPr>
          <p:cNvPr id="8" name="TextBox 8"/>
          <p:cNvSpPr txBox="1"/>
          <p:nvPr/>
        </p:nvSpPr>
        <p:spPr>
          <a:xfrm>
            <a:off x="1028700" y="6565640"/>
            <a:ext cx="8939707" cy="2102253"/>
          </a:xfrm>
          <a:prstGeom prst="rect">
            <a:avLst/>
          </a:prstGeom>
        </p:spPr>
        <p:txBody>
          <a:bodyPr lIns="0" tIns="0" rIns="0" bIns="0" rtlCol="0" anchor="t">
            <a:spAutoFit/>
          </a:bodyPr>
          <a:lstStyle/>
          <a:p>
            <a:pPr marL="0" lvl="0" indent="0" algn="just">
              <a:lnSpc>
                <a:spcPts val="2777"/>
              </a:lnSpc>
            </a:pPr>
            <a:r>
              <a:rPr lang="en-US" sz="1984">
                <a:solidFill>
                  <a:srgbClr val="225A58"/>
                </a:solidFill>
                <a:latin typeface="Bricolage Grotesque"/>
                <a:ea typeface="Bricolage Grotesque"/>
                <a:cs typeface="Bricolage Grotesque"/>
                <a:sym typeface="Bricolage Grotesque"/>
              </a:rPr>
              <a:t>• Readable Information Grouping: related fields and content placed together logically</a:t>
            </a:r>
          </a:p>
          <a:p>
            <a:pPr marL="0" lvl="0" indent="0" algn="just">
              <a:lnSpc>
                <a:spcPts val="2777"/>
              </a:lnSpc>
            </a:pPr>
            <a:r>
              <a:rPr lang="en-US" sz="1984">
                <a:solidFill>
                  <a:srgbClr val="225A58"/>
                </a:solidFill>
                <a:latin typeface="Bricolage Grotesque"/>
                <a:ea typeface="Bricolage Grotesque"/>
                <a:cs typeface="Bricolage Grotesque"/>
                <a:sym typeface="Bricolage Grotesque"/>
              </a:rPr>
              <a:t>• Predictable Navigation: users always know where they are and where to go next</a:t>
            </a:r>
          </a:p>
          <a:p>
            <a:pPr marL="0" lvl="0" indent="0" algn="just">
              <a:lnSpc>
                <a:spcPts val="2777"/>
              </a:lnSpc>
            </a:pPr>
            <a:r>
              <a:rPr lang="en-US" sz="1984">
                <a:solidFill>
                  <a:srgbClr val="225A58"/>
                </a:solidFill>
                <a:latin typeface="Bricolage Grotesque"/>
                <a:ea typeface="Bricolage Grotesque"/>
                <a:cs typeface="Bricolage Grotesque"/>
                <a:sym typeface="Bricolage Grotesque"/>
              </a:rPr>
              <a:t>• Practical Forms &amp; Responsive Thinking: inputs designed for real use, adaptable across screen sizes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24167" y="4506738"/>
            <a:ext cx="3761399" cy="5954917"/>
          </a:xfrm>
          <a:custGeom>
            <a:avLst/>
            <a:gdLst/>
            <a:ahLst/>
            <a:cxnLst/>
            <a:rect l="l" t="t" r="r" b="b"/>
            <a:pathLst>
              <a:path w="3761399" h="5954917">
                <a:moveTo>
                  <a:pt x="3761398" y="0"/>
                </a:moveTo>
                <a:lnTo>
                  <a:pt x="0" y="0"/>
                </a:lnTo>
                <a:lnTo>
                  <a:pt x="0" y="5954918"/>
                </a:lnTo>
                <a:lnTo>
                  <a:pt x="3761398" y="5954918"/>
                </a:lnTo>
                <a:lnTo>
                  <a:pt x="3761398" y="0"/>
                </a:lnTo>
                <a:close/>
              </a:path>
            </a:pathLst>
          </a:custGeom>
          <a:blipFill>
            <a:blip>
              <a:extLst>
                <a:ext uri="{96DAC541-7B7A-43D3-8B79-37D633B846F1}">
                  <asvg:svgBlip xmlns:asvg="http://schemas.microsoft.com/office/drawing/2016/SVG/main" r:embed="rId2"/>
                </a:ext>
              </a:extLst>
            </a:blip>
            <a:stretch>
              <a:fillRect t="-30812" r="-286682" b="-69025"/>
            </a:stretch>
          </a:blipFill>
        </p:spPr>
      </p:sp>
      <p:sp>
        <p:nvSpPr>
          <p:cNvPr id="3" name="Freeform 3"/>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a:extLst>
                <a:ext uri="{96DAC541-7B7A-43D3-8B79-37D633B846F1}">
                  <asvg:svgBlip xmlns:asvg="http://schemas.microsoft.com/office/drawing/2016/SVG/main" r:embed="rId2"/>
                </a:ext>
              </a:extLst>
            </a:blip>
            <a:stretch>
              <a:fillRect l="-36235"/>
            </a:stretch>
          </a:blipFill>
        </p:spPr>
      </p:sp>
      <p:grpSp>
        <p:nvGrpSpPr>
          <p:cNvPr id="4" name="Group 4"/>
          <p:cNvGrpSpPr/>
          <p:nvPr/>
        </p:nvGrpSpPr>
        <p:grpSpPr>
          <a:xfrm>
            <a:off x="626933" y="4176936"/>
            <a:ext cx="4389496" cy="4389496"/>
            <a:chOff x="0" y="0"/>
            <a:chExt cx="6350000" cy="6350000"/>
          </a:xfrm>
        </p:grpSpPr>
        <p:sp>
          <p:nvSpPr>
            <p:cNvPr id="5" name="Freeform 5"/>
            <p:cNvSpPr/>
            <p:nvPr/>
          </p:nvSpPr>
          <p:spPr>
            <a:xfrm>
              <a:off x="0" y="0"/>
              <a:ext cx="6350000" cy="6350000"/>
            </a:xfrm>
            <a:custGeom>
              <a:avLst/>
              <a:gdLst/>
              <a:ahLst/>
              <a:cxnLst/>
              <a:rect l="l" t="t" r="r" b="b"/>
              <a:pathLst>
                <a:path w="6350000" h="6350000">
                  <a:moveTo>
                    <a:pt x="0" y="3484334"/>
                  </a:moveTo>
                  <a:lnTo>
                    <a:pt x="0" y="0"/>
                  </a:lnTo>
                  <a:lnTo>
                    <a:pt x="5404803" y="0"/>
                  </a:lnTo>
                  <a:cubicBezTo>
                    <a:pt x="5773928" y="369126"/>
                    <a:pt x="5980874" y="576072"/>
                    <a:pt x="6350000" y="945198"/>
                  </a:cubicBezTo>
                  <a:lnTo>
                    <a:pt x="6350000" y="6350000"/>
                  </a:lnTo>
                  <a:lnTo>
                    <a:pt x="2865666" y="6350000"/>
                  </a:lnTo>
                  <a:cubicBezTo>
                    <a:pt x="1746555" y="5230889"/>
                    <a:pt x="1119111" y="4603445"/>
                    <a:pt x="0" y="3484334"/>
                  </a:cubicBezTo>
                  <a:close/>
                </a:path>
              </a:pathLst>
            </a:custGeom>
            <a:blipFill>
              <a:blip r:embed="rId3"/>
              <a:stretch>
                <a:fillRect/>
              </a:stretch>
            </a:blipFill>
          </p:spPr>
        </p:sp>
      </p:grpSp>
      <p:sp>
        <p:nvSpPr>
          <p:cNvPr id="6" name="TextBox 6"/>
          <p:cNvSpPr txBox="1"/>
          <p:nvPr/>
        </p:nvSpPr>
        <p:spPr>
          <a:xfrm>
            <a:off x="4185565" y="2086512"/>
            <a:ext cx="14679267" cy="1555301"/>
          </a:xfrm>
          <a:prstGeom prst="rect">
            <a:avLst/>
          </a:prstGeom>
        </p:spPr>
        <p:txBody>
          <a:bodyPr lIns="0" tIns="0" rIns="0" bIns="0" rtlCol="0" anchor="t">
            <a:spAutoFit/>
          </a:bodyPr>
          <a:lstStyle/>
          <a:p>
            <a:pPr marL="0" lvl="0" indent="0" algn="just">
              <a:lnSpc>
                <a:spcPts val="5984"/>
              </a:lnSpc>
            </a:pPr>
            <a:r>
              <a:rPr lang="en-US" sz="6505" b="1">
                <a:solidFill>
                  <a:srgbClr val="5A8D1E"/>
                </a:solidFill>
                <a:latin typeface="Monda Bold"/>
                <a:ea typeface="Monda Bold"/>
                <a:cs typeface="Monda Bold"/>
                <a:sym typeface="Monda Bold"/>
              </a:rPr>
              <a:t>FROM DESIGN TO IMPLEMENTATION</a:t>
            </a:r>
          </a:p>
        </p:txBody>
      </p:sp>
      <p:sp>
        <p:nvSpPr>
          <p:cNvPr id="7" name="TextBox 7"/>
          <p:cNvSpPr txBox="1"/>
          <p:nvPr/>
        </p:nvSpPr>
        <p:spPr>
          <a:xfrm>
            <a:off x="7935228" y="4129311"/>
            <a:ext cx="8939707" cy="1259341"/>
          </a:xfrm>
          <a:prstGeom prst="rect">
            <a:avLst/>
          </a:prstGeom>
        </p:spPr>
        <p:txBody>
          <a:bodyPr lIns="0" tIns="0" rIns="0" bIns="0" rtlCol="0" anchor="t">
            <a:spAutoFit/>
          </a:bodyPr>
          <a:lstStyle/>
          <a:p>
            <a:pPr marL="0" lvl="0" indent="0" algn="just">
              <a:lnSpc>
                <a:spcPts val="2512"/>
              </a:lnSpc>
            </a:pPr>
            <a:r>
              <a:rPr lang="en-US" sz="1794">
                <a:solidFill>
                  <a:srgbClr val="225A58"/>
                </a:solidFill>
                <a:latin typeface="Bricolage Grotesque"/>
                <a:ea typeface="Bricolage Grotesque"/>
                <a:cs typeface="Bricolage Grotesque"/>
                <a:sym typeface="Bricolage Grotesque"/>
              </a:rPr>
              <a:t>• Prepared structured design handoffs with annotated layouts and component notes</a:t>
            </a:r>
          </a:p>
          <a:p>
            <a:pPr marL="0" lvl="0" indent="0" algn="just">
              <a:lnSpc>
                <a:spcPts val="2512"/>
              </a:lnSpc>
            </a:pPr>
            <a:r>
              <a:rPr lang="en-US" sz="1794">
                <a:solidFill>
                  <a:srgbClr val="225A58"/>
                </a:solidFill>
                <a:latin typeface="Bricolage Grotesque"/>
                <a:ea typeface="Bricolage Grotesque"/>
                <a:cs typeface="Bricolage Grotesque"/>
                <a:sym typeface="Bricolage Grotesque"/>
              </a:rPr>
              <a:t>• Communicated layout intent clearly to developers through documented specifications</a:t>
            </a:r>
          </a:p>
          <a:p>
            <a:pPr marL="0" lvl="0" indent="0" algn="just">
              <a:lnSpc>
                <a:spcPts val="2512"/>
              </a:lnSpc>
            </a:pPr>
            <a:r>
              <a:rPr lang="en-US" sz="1794">
                <a:solidFill>
                  <a:srgbClr val="225A58"/>
                </a:solidFill>
                <a:latin typeface="Bricolage Grotesque"/>
                <a:ea typeface="Bricolage Grotesque"/>
                <a:cs typeface="Bricolage Grotesque"/>
                <a:sym typeface="Bricolage Grotesque"/>
              </a:rPr>
              <a:t>• Identified design elements requiring adaptation to meet technical constraints</a:t>
            </a:r>
          </a:p>
        </p:txBody>
      </p:sp>
      <p:sp>
        <p:nvSpPr>
          <p:cNvPr id="8" name="TextBox 8"/>
          <p:cNvSpPr txBox="1"/>
          <p:nvPr/>
        </p:nvSpPr>
        <p:spPr>
          <a:xfrm>
            <a:off x="6020218" y="6021792"/>
            <a:ext cx="8939707" cy="1259341"/>
          </a:xfrm>
          <a:prstGeom prst="rect">
            <a:avLst/>
          </a:prstGeom>
        </p:spPr>
        <p:txBody>
          <a:bodyPr lIns="0" tIns="0" rIns="0" bIns="0" rtlCol="0" anchor="t">
            <a:spAutoFit/>
          </a:bodyPr>
          <a:lstStyle/>
          <a:p>
            <a:pPr marL="0" lvl="0" indent="0" algn="just">
              <a:lnSpc>
                <a:spcPts val="2512"/>
              </a:lnSpc>
            </a:pPr>
            <a:r>
              <a:rPr lang="en-US" sz="1794">
                <a:solidFill>
                  <a:srgbClr val="225A58"/>
                </a:solidFill>
                <a:latin typeface="Bricolage Grotesque"/>
                <a:ea typeface="Bricolage Grotesque"/>
                <a:cs typeface="Bricolage Grotesque"/>
                <a:sym typeface="Bricolage Grotesque"/>
              </a:rPr>
              <a:t>• Reviewed implemented screens against original designs for accuracy and consistency</a:t>
            </a:r>
          </a:p>
          <a:p>
            <a:pPr marL="0" lvl="0" indent="0" algn="just">
              <a:lnSpc>
                <a:spcPts val="2512"/>
              </a:lnSpc>
            </a:pPr>
            <a:r>
              <a:rPr lang="en-US" sz="1794">
                <a:solidFill>
                  <a:srgbClr val="225A58"/>
                </a:solidFill>
                <a:latin typeface="Bricolage Grotesque"/>
                <a:ea typeface="Bricolage Grotesque"/>
                <a:cs typeface="Bricolage Grotesque"/>
                <a:sym typeface="Bricolage Grotesque"/>
              </a:rPr>
              <a:t>• Collaborated iteratively with the development team to refine UI details post-build</a:t>
            </a:r>
          </a:p>
          <a:p>
            <a:pPr marL="0" lvl="0" indent="0" algn="just">
              <a:lnSpc>
                <a:spcPts val="2512"/>
              </a:lnSpc>
            </a:pPr>
            <a:r>
              <a:rPr lang="en-US" sz="1794">
                <a:solidFill>
                  <a:srgbClr val="225A58"/>
                </a:solidFill>
                <a:latin typeface="Bricolage Grotesque"/>
                <a:ea typeface="Bricolage Grotesque"/>
                <a:cs typeface="Bricolage Grotesque"/>
                <a:sym typeface="Bricolage Grotesque"/>
              </a:rPr>
              <a:t>• Ensured final outputs aligned with intended usability and visual hierarchy goals</a:t>
            </a:r>
          </a:p>
        </p:txBody>
      </p:sp>
      <p:sp>
        <p:nvSpPr>
          <p:cNvPr id="9" name="TextBox 9"/>
          <p:cNvSpPr txBox="1"/>
          <p:nvPr/>
        </p:nvSpPr>
        <p:spPr>
          <a:xfrm>
            <a:off x="7935228" y="7912822"/>
            <a:ext cx="8939707" cy="1259341"/>
          </a:xfrm>
          <a:prstGeom prst="rect">
            <a:avLst/>
          </a:prstGeom>
        </p:spPr>
        <p:txBody>
          <a:bodyPr lIns="0" tIns="0" rIns="0" bIns="0" rtlCol="0" anchor="t">
            <a:spAutoFit/>
          </a:bodyPr>
          <a:lstStyle/>
          <a:p>
            <a:pPr marL="0" lvl="0" indent="0" algn="just">
              <a:lnSpc>
                <a:spcPts val="2512"/>
              </a:lnSpc>
            </a:pPr>
            <a:r>
              <a:rPr lang="en-US" sz="1794">
                <a:solidFill>
                  <a:srgbClr val="225A58"/>
                </a:solidFill>
                <a:latin typeface="Bricolage Grotesque"/>
                <a:ea typeface="Bricolage Grotesque"/>
                <a:cs typeface="Bricolage Grotesque"/>
                <a:sym typeface="Bricolage Grotesque"/>
              </a:rPr>
              <a:t>Bridging design and development required clear communication and flexibility. By maintaining close collaboration with the development team at ADH Enterprises, design decisions were effectively translated into functional screens, ensuring the final product remained consistent with the intended user experience.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24167" y="4506738"/>
            <a:ext cx="3761399" cy="5954917"/>
          </a:xfrm>
          <a:custGeom>
            <a:avLst/>
            <a:gdLst/>
            <a:ahLst/>
            <a:cxnLst/>
            <a:rect l="l" t="t" r="r" b="b"/>
            <a:pathLst>
              <a:path w="3761399" h="5954917">
                <a:moveTo>
                  <a:pt x="3761398" y="0"/>
                </a:moveTo>
                <a:lnTo>
                  <a:pt x="0" y="0"/>
                </a:lnTo>
                <a:lnTo>
                  <a:pt x="0" y="5954918"/>
                </a:lnTo>
                <a:lnTo>
                  <a:pt x="3761398" y="5954918"/>
                </a:lnTo>
                <a:lnTo>
                  <a:pt x="3761398" y="0"/>
                </a:lnTo>
                <a:close/>
              </a:path>
            </a:pathLst>
          </a:custGeom>
          <a:blipFill>
            <a:blip>
              <a:extLst>
                <a:ext uri="{96DAC541-7B7A-43D3-8B79-37D633B846F1}">
                  <asvg:svgBlip xmlns:asvg="http://schemas.microsoft.com/office/drawing/2016/SVG/main" r:embed="rId2"/>
                </a:ext>
              </a:extLst>
            </a:blip>
            <a:stretch>
              <a:fillRect t="-30812" r="-286682" b="-69025"/>
            </a:stretch>
          </a:blipFill>
        </p:spPr>
      </p:sp>
      <p:sp>
        <p:nvSpPr>
          <p:cNvPr id="3" name="Freeform 3"/>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a:extLst>
                <a:ext uri="{96DAC541-7B7A-43D3-8B79-37D633B846F1}">
                  <asvg:svgBlip xmlns:asvg="http://schemas.microsoft.com/office/drawing/2016/SVG/main" r:embed="rId2"/>
                </a:ext>
              </a:extLst>
            </a:blip>
            <a:stretch>
              <a:fillRect l="-36235"/>
            </a:stretch>
          </a:blipFill>
        </p:spPr>
      </p:sp>
      <p:grpSp>
        <p:nvGrpSpPr>
          <p:cNvPr id="4" name="Group 4"/>
          <p:cNvGrpSpPr/>
          <p:nvPr/>
        </p:nvGrpSpPr>
        <p:grpSpPr>
          <a:xfrm>
            <a:off x="626933" y="4176936"/>
            <a:ext cx="4389496" cy="4389496"/>
            <a:chOff x="0" y="0"/>
            <a:chExt cx="6350000" cy="6350000"/>
          </a:xfrm>
        </p:grpSpPr>
        <p:sp>
          <p:nvSpPr>
            <p:cNvPr id="5" name="Freeform 5"/>
            <p:cNvSpPr/>
            <p:nvPr/>
          </p:nvSpPr>
          <p:spPr>
            <a:xfrm>
              <a:off x="0" y="0"/>
              <a:ext cx="6350000" cy="6350000"/>
            </a:xfrm>
            <a:custGeom>
              <a:avLst/>
              <a:gdLst/>
              <a:ahLst/>
              <a:cxnLst/>
              <a:rect l="l" t="t" r="r" b="b"/>
              <a:pathLst>
                <a:path w="6350000" h="6350000">
                  <a:moveTo>
                    <a:pt x="0" y="3484334"/>
                  </a:moveTo>
                  <a:lnTo>
                    <a:pt x="0" y="0"/>
                  </a:lnTo>
                  <a:lnTo>
                    <a:pt x="5404803" y="0"/>
                  </a:lnTo>
                  <a:cubicBezTo>
                    <a:pt x="5773928" y="369126"/>
                    <a:pt x="5980874" y="576072"/>
                    <a:pt x="6350000" y="945198"/>
                  </a:cubicBezTo>
                  <a:lnTo>
                    <a:pt x="6350000" y="6350000"/>
                  </a:lnTo>
                  <a:lnTo>
                    <a:pt x="2865666" y="6350000"/>
                  </a:lnTo>
                  <a:cubicBezTo>
                    <a:pt x="1746555" y="5230889"/>
                    <a:pt x="1119111" y="4603445"/>
                    <a:pt x="0" y="3484334"/>
                  </a:cubicBezTo>
                  <a:close/>
                </a:path>
              </a:pathLst>
            </a:custGeom>
            <a:blipFill>
              <a:blip r:embed="rId3"/>
              <a:stretch>
                <a:fillRect/>
              </a:stretch>
            </a:blipFill>
          </p:spPr>
        </p:sp>
      </p:grpSp>
      <p:sp>
        <p:nvSpPr>
          <p:cNvPr id="6" name="TextBox 6"/>
          <p:cNvSpPr txBox="1"/>
          <p:nvPr/>
        </p:nvSpPr>
        <p:spPr>
          <a:xfrm>
            <a:off x="4185565" y="2162712"/>
            <a:ext cx="14679267" cy="1185311"/>
          </a:xfrm>
          <a:prstGeom prst="rect">
            <a:avLst/>
          </a:prstGeom>
        </p:spPr>
        <p:txBody>
          <a:bodyPr lIns="0" tIns="0" rIns="0" bIns="0" rtlCol="0" anchor="t">
            <a:spAutoFit/>
          </a:bodyPr>
          <a:lstStyle/>
          <a:p>
            <a:pPr marL="0" lvl="0" indent="0" algn="just">
              <a:lnSpc>
                <a:spcPts val="8733"/>
              </a:lnSpc>
            </a:pPr>
            <a:r>
              <a:rPr lang="en-US" sz="9493" b="1">
                <a:solidFill>
                  <a:srgbClr val="5A8D1E"/>
                </a:solidFill>
                <a:latin typeface="Monda Bold"/>
                <a:ea typeface="Monda Bold"/>
                <a:cs typeface="Monda Bold"/>
                <a:sym typeface="Monda Bold"/>
              </a:rPr>
              <a:t>LEARNING OUTCOMES</a:t>
            </a:r>
          </a:p>
        </p:txBody>
      </p:sp>
      <p:sp>
        <p:nvSpPr>
          <p:cNvPr id="7" name="TextBox 7"/>
          <p:cNvSpPr txBox="1"/>
          <p:nvPr/>
        </p:nvSpPr>
        <p:spPr>
          <a:xfrm>
            <a:off x="7935228" y="4138836"/>
            <a:ext cx="8939707" cy="990352"/>
          </a:xfrm>
          <a:prstGeom prst="rect">
            <a:avLst/>
          </a:prstGeom>
        </p:spPr>
        <p:txBody>
          <a:bodyPr lIns="0" tIns="0" rIns="0" bIns="0" rtlCol="0" anchor="t">
            <a:spAutoFit/>
          </a:bodyPr>
          <a:lstStyle/>
          <a:p>
            <a:pPr marL="0" lvl="0" indent="0" algn="just">
              <a:lnSpc>
                <a:spcPts val="2638"/>
              </a:lnSpc>
            </a:pPr>
            <a:r>
              <a:rPr lang="en-US" sz="1884">
                <a:solidFill>
                  <a:srgbClr val="225A58"/>
                </a:solidFill>
                <a:latin typeface="Bricolage Grotesque"/>
                <a:ea typeface="Bricolage Grotesque"/>
                <a:cs typeface="Bricolage Grotesque"/>
                <a:sym typeface="Bricolage Grotesque"/>
              </a:rPr>
              <a:t>• Developed user-centered design thinking for real product interfaces</a:t>
            </a:r>
          </a:p>
          <a:p>
            <a:pPr marL="0" lvl="0" indent="0" algn="just">
              <a:lnSpc>
                <a:spcPts val="2638"/>
              </a:lnSpc>
            </a:pPr>
            <a:r>
              <a:rPr lang="en-US" sz="1884">
                <a:solidFill>
                  <a:srgbClr val="225A58"/>
                </a:solidFill>
                <a:latin typeface="Bricolage Grotesque"/>
                <a:ea typeface="Bricolage Grotesque"/>
                <a:cs typeface="Bricolage Grotesque"/>
                <a:sym typeface="Bricolage Grotesque"/>
              </a:rPr>
              <a:t>• Gained experience in interface planning and screen layout structuring</a:t>
            </a:r>
          </a:p>
          <a:p>
            <a:pPr marL="0" lvl="0" indent="0" algn="just">
              <a:lnSpc>
                <a:spcPts val="2638"/>
              </a:lnSpc>
            </a:pPr>
            <a:r>
              <a:rPr lang="en-US" sz="1884">
                <a:solidFill>
                  <a:srgbClr val="225A58"/>
                </a:solidFill>
                <a:latin typeface="Bricolage Grotesque"/>
                <a:ea typeface="Bricolage Grotesque"/>
                <a:cs typeface="Bricolage Grotesque"/>
                <a:sym typeface="Bricolage Grotesque"/>
              </a:rPr>
              <a:t>• Built understanding of product workflows and end-to-end user journeys</a:t>
            </a:r>
          </a:p>
        </p:txBody>
      </p:sp>
      <p:sp>
        <p:nvSpPr>
          <p:cNvPr id="8" name="TextBox 8"/>
          <p:cNvSpPr txBox="1"/>
          <p:nvPr/>
        </p:nvSpPr>
        <p:spPr>
          <a:xfrm>
            <a:off x="6020218" y="6031317"/>
            <a:ext cx="8939707" cy="990352"/>
          </a:xfrm>
          <a:prstGeom prst="rect">
            <a:avLst/>
          </a:prstGeom>
        </p:spPr>
        <p:txBody>
          <a:bodyPr lIns="0" tIns="0" rIns="0" bIns="0" rtlCol="0" anchor="t">
            <a:spAutoFit/>
          </a:bodyPr>
          <a:lstStyle/>
          <a:p>
            <a:pPr marL="0" lvl="0" indent="0" algn="just">
              <a:lnSpc>
                <a:spcPts val="2638"/>
              </a:lnSpc>
            </a:pPr>
            <a:r>
              <a:rPr lang="en-US" sz="1884">
                <a:solidFill>
                  <a:srgbClr val="225A58"/>
                </a:solidFill>
                <a:latin typeface="Bricolage Grotesque"/>
                <a:ea typeface="Bricolage Grotesque"/>
                <a:cs typeface="Bricolage Grotesque"/>
                <a:sym typeface="Bricolage Grotesque"/>
              </a:rPr>
              <a:t>• Strengthened design-development collaboration and handoff skills</a:t>
            </a:r>
          </a:p>
          <a:p>
            <a:pPr marL="0" lvl="0" indent="0" algn="just">
              <a:lnSpc>
                <a:spcPts val="2638"/>
              </a:lnSpc>
            </a:pPr>
            <a:r>
              <a:rPr lang="en-US" sz="1884">
                <a:solidFill>
                  <a:srgbClr val="225A58"/>
                </a:solidFill>
                <a:latin typeface="Bricolage Grotesque"/>
                <a:ea typeface="Bricolage Grotesque"/>
                <a:cs typeface="Bricolage Grotesque"/>
                <a:sym typeface="Bricolage Grotesque"/>
              </a:rPr>
              <a:t>• Improved visual communication through hierarchy, spacing, and alignment</a:t>
            </a:r>
          </a:p>
          <a:p>
            <a:pPr marL="0" lvl="0" indent="0" algn="just">
              <a:lnSpc>
                <a:spcPts val="2638"/>
              </a:lnSpc>
            </a:pPr>
            <a:r>
              <a:rPr lang="en-US" sz="1884">
                <a:solidFill>
                  <a:srgbClr val="225A58"/>
                </a:solidFill>
                <a:latin typeface="Bricolage Grotesque"/>
                <a:ea typeface="Bricolage Grotesque"/>
                <a:cs typeface="Bricolage Grotesque"/>
                <a:sym typeface="Bricolage Grotesque"/>
              </a:rPr>
              <a:t>• Applied usability evaluation to refine and improve interface decisions</a:t>
            </a:r>
          </a:p>
        </p:txBody>
      </p:sp>
      <p:sp>
        <p:nvSpPr>
          <p:cNvPr id="9" name="TextBox 9"/>
          <p:cNvSpPr txBox="1"/>
          <p:nvPr/>
        </p:nvSpPr>
        <p:spPr>
          <a:xfrm>
            <a:off x="7935228" y="7922347"/>
            <a:ext cx="8939707" cy="1323727"/>
          </a:xfrm>
          <a:prstGeom prst="rect">
            <a:avLst/>
          </a:prstGeom>
        </p:spPr>
        <p:txBody>
          <a:bodyPr lIns="0" tIns="0" rIns="0" bIns="0" rtlCol="0" anchor="t">
            <a:spAutoFit/>
          </a:bodyPr>
          <a:lstStyle/>
          <a:p>
            <a:pPr marL="0" lvl="0" indent="0" algn="just">
              <a:lnSpc>
                <a:spcPts val="2638"/>
              </a:lnSpc>
            </a:pPr>
            <a:r>
              <a:rPr lang="en-US" sz="1884">
                <a:solidFill>
                  <a:srgbClr val="225A58"/>
                </a:solidFill>
                <a:latin typeface="Bricolage Grotesque"/>
                <a:ea typeface="Bricolage Grotesque"/>
                <a:cs typeface="Bricolage Grotesque"/>
                <a:sym typeface="Bricolage Grotesque"/>
              </a:rPr>
              <a:t>This internship provided Modassir Husain with practical front-end design experience — from interface planning and visual communication to design-development collaboration — building a strong foundation for a career in user-centered UI design.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3608733" y="-2015981"/>
            <a:ext cx="7217466" cy="8044996"/>
          </a:xfrm>
          <a:custGeom>
            <a:avLst/>
            <a:gdLst/>
            <a:ahLst/>
            <a:cxnLst/>
            <a:rect l="l" t="t" r="r" b="b"/>
            <a:pathLst>
              <a:path w="7217466" h="8044996">
                <a:moveTo>
                  <a:pt x="7217466" y="8044996"/>
                </a:moveTo>
                <a:lnTo>
                  <a:pt x="0" y="8044996"/>
                </a:lnTo>
                <a:lnTo>
                  <a:pt x="0" y="0"/>
                </a:lnTo>
                <a:lnTo>
                  <a:pt x="7217466" y="0"/>
                </a:lnTo>
                <a:lnTo>
                  <a:pt x="7217466" y="8044996"/>
                </a:lnTo>
                <a:close/>
              </a:path>
            </a:pathLst>
          </a:custGeom>
          <a:blipFill>
            <a:blip>
              <a:extLst>
                <a:ext uri="{96DAC541-7B7A-43D3-8B79-37D633B846F1}">
                  <asvg:svgBlip xmlns:asvg="http://schemas.microsoft.com/office/drawing/2016/SVG/main" r:embed="rId2"/>
                </a:ext>
              </a:extLst>
            </a:blip>
            <a:stretch>
              <a:fillRect l="-36235"/>
            </a:stretch>
          </a:blipFill>
        </p:spPr>
      </p:sp>
      <p:sp>
        <p:nvSpPr>
          <p:cNvPr id="3" name="Freeform 3"/>
          <p:cNvSpPr/>
          <p:nvPr/>
        </p:nvSpPr>
        <p:spPr>
          <a:xfrm flipH="1">
            <a:off x="589664" y="3613660"/>
            <a:ext cx="2793318" cy="8644339"/>
          </a:xfrm>
          <a:custGeom>
            <a:avLst/>
            <a:gdLst/>
            <a:ahLst/>
            <a:cxnLst/>
            <a:rect l="l" t="t" r="r" b="b"/>
            <a:pathLst>
              <a:path w="2793318" h="8644339">
                <a:moveTo>
                  <a:pt x="2793319" y="0"/>
                </a:moveTo>
                <a:lnTo>
                  <a:pt x="0" y="0"/>
                </a:lnTo>
                <a:lnTo>
                  <a:pt x="0" y="8644339"/>
                </a:lnTo>
                <a:lnTo>
                  <a:pt x="2793319" y="8644339"/>
                </a:lnTo>
                <a:lnTo>
                  <a:pt x="2793319" y="0"/>
                </a:lnTo>
                <a:close/>
              </a:path>
            </a:pathLst>
          </a:custGeom>
          <a:blipFill>
            <a:blip>
              <a:extLst>
                <a:ext uri="{96DAC541-7B7A-43D3-8B79-37D633B846F1}">
                  <asvg:svgBlip xmlns:asvg="http://schemas.microsoft.com/office/drawing/2016/SVG/main" r:embed="rId2"/>
                </a:ext>
              </a:extLst>
            </a:blip>
            <a:stretch>
              <a:fillRect r="-278234"/>
            </a:stretch>
          </a:blipFill>
        </p:spPr>
      </p:sp>
      <p:sp>
        <p:nvSpPr>
          <p:cNvPr id="4" name="Freeform 4"/>
          <p:cNvSpPr/>
          <p:nvPr/>
        </p:nvSpPr>
        <p:spPr>
          <a:xfrm flipV="1">
            <a:off x="14260897" y="2006517"/>
            <a:ext cx="7933604" cy="8843244"/>
          </a:xfrm>
          <a:custGeom>
            <a:avLst/>
            <a:gdLst/>
            <a:ahLst/>
            <a:cxnLst/>
            <a:rect l="l" t="t" r="r" b="b"/>
            <a:pathLst>
              <a:path w="7933604" h="8843244">
                <a:moveTo>
                  <a:pt x="0" y="8843243"/>
                </a:moveTo>
                <a:lnTo>
                  <a:pt x="7933604" y="8843243"/>
                </a:lnTo>
                <a:lnTo>
                  <a:pt x="7933604" y="0"/>
                </a:lnTo>
                <a:lnTo>
                  <a:pt x="0" y="0"/>
                </a:lnTo>
                <a:lnTo>
                  <a:pt x="0" y="8843243"/>
                </a:lnTo>
                <a:close/>
              </a:path>
            </a:pathLst>
          </a:custGeom>
          <a:blipFill>
            <a:blip>
              <a:extLst>
                <a:ext uri="{96DAC541-7B7A-43D3-8B79-37D633B846F1}">
                  <asvg:svgBlip xmlns:asvg="http://schemas.microsoft.com/office/drawing/2016/SVG/main" r:embed="rId2"/>
                </a:ext>
              </a:extLst>
            </a:blip>
            <a:stretch>
              <a:fillRect l="-36235"/>
            </a:stretch>
          </a:blipFill>
        </p:spPr>
      </p:sp>
      <p:grpSp>
        <p:nvGrpSpPr>
          <p:cNvPr id="5" name="Group 5"/>
          <p:cNvGrpSpPr/>
          <p:nvPr/>
        </p:nvGrpSpPr>
        <p:grpSpPr>
          <a:xfrm>
            <a:off x="11374434" y="4488796"/>
            <a:ext cx="5884866" cy="5049654"/>
            <a:chOff x="0" y="0"/>
            <a:chExt cx="6269228" cy="5379466"/>
          </a:xfrm>
        </p:grpSpPr>
        <p:sp>
          <p:nvSpPr>
            <p:cNvPr id="6" name="Freeform 6"/>
            <p:cNvSpPr/>
            <p:nvPr/>
          </p:nvSpPr>
          <p:spPr>
            <a:xfrm>
              <a:off x="12" y="76"/>
              <a:ext cx="6269216" cy="5379390"/>
            </a:xfrm>
            <a:custGeom>
              <a:avLst/>
              <a:gdLst/>
              <a:ahLst/>
              <a:cxnLst/>
              <a:rect l="l" t="t" r="r" b="b"/>
              <a:pathLst>
                <a:path w="6269216" h="5379390">
                  <a:moveTo>
                    <a:pt x="5977116" y="5379390"/>
                  </a:moveTo>
                  <a:cubicBezTo>
                    <a:pt x="6137771" y="5379390"/>
                    <a:pt x="6269216" y="5247945"/>
                    <a:pt x="6269216" y="5087290"/>
                  </a:cubicBezTo>
                  <a:lnTo>
                    <a:pt x="6269216" y="237922"/>
                  </a:lnTo>
                  <a:cubicBezTo>
                    <a:pt x="6269216" y="77267"/>
                    <a:pt x="6140565" y="-27000"/>
                    <a:pt x="5983466" y="6147"/>
                  </a:cubicBezTo>
                  <a:lnTo>
                    <a:pt x="204966" y="1224966"/>
                  </a:lnTo>
                  <a:cubicBezTo>
                    <a:pt x="47740" y="1258113"/>
                    <a:pt x="-37350" y="1409243"/>
                    <a:pt x="15863" y="1560881"/>
                  </a:cubicBezTo>
                  <a:lnTo>
                    <a:pt x="1258431" y="5103673"/>
                  </a:lnTo>
                  <a:cubicBezTo>
                    <a:pt x="1311644" y="5255311"/>
                    <a:pt x="1486523" y="5379263"/>
                    <a:pt x="1647178" y="5379263"/>
                  </a:cubicBezTo>
                  <a:lnTo>
                    <a:pt x="5977116" y="5379390"/>
                  </a:lnTo>
                  <a:close/>
                </a:path>
              </a:pathLst>
            </a:custGeom>
            <a:blipFill>
              <a:blip r:embed="rId3"/>
              <a:stretch>
                <a:fillRect l="-105" r="-105"/>
              </a:stretch>
            </a:blipFill>
          </p:spPr>
        </p:sp>
      </p:grpSp>
      <p:sp>
        <p:nvSpPr>
          <p:cNvPr id="7" name="TextBox 7"/>
          <p:cNvSpPr txBox="1"/>
          <p:nvPr/>
        </p:nvSpPr>
        <p:spPr>
          <a:xfrm>
            <a:off x="3972420" y="8092673"/>
            <a:ext cx="4546447" cy="249393"/>
          </a:xfrm>
          <a:prstGeom prst="rect">
            <a:avLst/>
          </a:prstGeom>
        </p:spPr>
        <p:txBody>
          <a:bodyPr lIns="0" tIns="0" rIns="0" bIns="0" rtlCol="0" anchor="t">
            <a:spAutoFit/>
          </a:bodyPr>
          <a:lstStyle/>
          <a:p>
            <a:pPr marL="0" lvl="0" indent="0" algn="l">
              <a:lnSpc>
                <a:spcPts val="2003"/>
              </a:lnSpc>
            </a:pPr>
            <a:r>
              <a:rPr lang="en-US" sz="1431">
                <a:solidFill>
                  <a:srgbClr val="225A58"/>
                </a:solidFill>
                <a:latin typeface="Bricolage Grotesque"/>
                <a:ea typeface="Bricolage Grotesque"/>
                <a:cs typeface="Bricolage Grotesque"/>
                <a:sym typeface="Bricolage Grotesque"/>
              </a:rPr>
              <a:t>Presented by:</a:t>
            </a:r>
          </a:p>
        </p:txBody>
      </p:sp>
      <p:sp>
        <p:nvSpPr>
          <p:cNvPr id="8" name="TextBox 8"/>
          <p:cNvSpPr txBox="1"/>
          <p:nvPr/>
        </p:nvSpPr>
        <p:spPr>
          <a:xfrm>
            <a:off x="4611267" y="4957343"/>
            <a:ext cx="4546447" cy="497043"/>
          </a:xfrm>
          <a:prstGeom prst="rect">
            <a:avLst/>
          </a:prstGeom>
        </p:spPr>
        <p:txBody>
          <a:bodyPr lIns="0" tIns="0" rIns="0" bIns="0" rtlCol="0" anchor="t">
            <a:spAutoFit/>
          </a:bodyPr>
          <a:lstStyle/>
          <a:p>
            <a:pPr marL="0" lvl="0" indent="0" algn="l">
              <a:lnSpc>
                <a:spcPts val="2003"/>
              </a:lnSpc>
            </a:pPr>
            <a:r>
              <a:rPr lang="en-US" sz="1431">
                <a:solidFill>
                  <a:srgbClr val="225A58"/>
                </a:solidFill>
                <a:latin typeface="Bricolage Grotesque"/>
                <a:ea typeface="Bricolage Grotesque"/>
                <a:cs typeface="Bricolage Grotesque"/>
                <a:sym typeface="Bricolage Grotesque"/>
              </a:rPr>
              <a:t>Gained practical front-end design experience working on a real software product at ADH Enterprises</a:t>
            </a:r>
          </a:p>
        </p:txBody>
      </p:sp>
      <p:sp>
        <p:nvSpPr>
          <p:cNvPr id="9" name="TextBox 9"/>
          <p:cNvSpPr txBox="1"/>
          <p:nvPr/>
        </p:nvSpPr>
        <p:spPr>
          <a:xfrm>
            <a:off x="4611267" y="5697934"/>
            <a:ext cx="5763042" cy="497043"/>
          </a:xfrm>
          <a:prstGeom prst="rect">
            <a:avLst/>
          </a:prstGeom>
        </p:spPr>
        <p:txBody>
          <a:bodyPr lIns="0" tIns="0" rIns="0" bIns="0" rtlCol="0" anchor="t">
            <a:spAutoFit/>
          </a:bodyPr>
          <a:lstStyle/>
          <a:p>
            <a:pPr marL="0" lvl="0" indent="0" algn="l">
              <a:lnSpc>
                <a:spcPts val="2003"/>
              </a:lnSpc>
            </a:pPr>
            <a:r>
              <a:rPr lang="en-US" sz="1431">
                <a:solidFill>
                  <a:srgbClr val="225A58"/>
                </a:solidFill>
                <a:latin typeface="Bricolage Grotesque"/>
                <a:ea typeface="Bricolage Grotesque"/>
                <a:cs typeface="Bricolage Grotesque"/>
                <a:sym typeface="Bricolage Grotesque"/>
              </a:rPr>
              <a:t>Contributed meaningful UI design to the ADH ID Generation Software — from layout planning to usability refinement</a:t>
            </a:r>
          </a:p>
        </p:txBody>
      </p:sp>
      <p:sp>
        <p:nvSpPr>
          <p:cNvPr id="10" name="TextBox 10"/>
          <p:cNvSpPr txBox="1"/>
          <p:nvPr/>
        </p:nvSpPr>
        <p:spPr>
          <a:xfrm>
            <a:off x="4611267" y="6440249"/>
            <a:ext cx="5763042" cy="497043"/>
          </a:xfrm>
          <a:prstGeom prst="rect">
            <a:avLst/>
          </a:prstGeom>
        </p:spPr>
        <p:txBody>
          <a:bodyPr lIns="0" tIns="0" rIns="0" bIns="0" rtlCol="0" anchor="t">
            <a:spAutoFit/>
          </a:bodyPr>
          <a:lstStyle/>
          <a:p>
            <a:pPr marL="0" lvl="0" indent="0" algn="l">
              <a:lnSpc>
                <a:spcPts val="2003"/>
              </a:lnSpc>
            </a:pPr>
            <a:r>
              <a:rPr lang="en-US" sz="1431">
                <a:solidFill>
                  <a:srgbClr val="225A58"/>
                </a:solidFill>
                <a:latin typeface="Bricolage Grotesque"/>
                <a:ea typeface="Bricolage Grotesque"/>
                <a:cs typeface="Bricolage Grotesque"/>
                <a:sym typeface="Bricolage Grotesque"/>
              </a:rPr>
              <a:t>Developed a stronger understanding of turning product requirements into clear, usable interfaces through real collaboration</a:t>
            </a:r>
          </a:p>
        </p:txBody>
      </p:sp>
      <p:sp>
        <p:nvSpPr>
          <p:cNvPr id="11" name="TextBox 11"/>
          <p:cNvSpPr txBox="1"/>
          <p:nvPr/>
        </p:nvSpPr>
        <p:spPr>
          <a:xfrm>
            <a:off x="3972420" y="8606388"/>
            <a:ext cx="2826533" cy="306960"/>
          </a:xfrm>
          <a:prstGeom prst="rect">
            <a:avLst/>
          </a:prstGeom>
        </p:spPr>
        <p:txBody>
          <a:bodyPr lIns="0" tIns="0" rIns="0" bIns="0" rtlCol="0" anchor="t">
            <a:spAutoFit/>
          </a:bodyPr>
          <a:lstStyle/>
          <a:p>
            <a:pPr marL="0" lvl="0" indent="0" algn="l">
              <a:lnSpc>
                <a:spcPts val="2505"/>
              </a:lnSpc>
            </a:pPr>
            <a:r>
              <a:rPr lang="en-US" sz="1789" b="1">
                <a:solidFill>
                  <a:srgbClr val="225A58"/>
                </a:solidFill>
                <a:latin typeface="Monda Bold"/>
                <a:ea typeface="Monda Bold"/>
                <a:cs typeface="Monda Bold"/>
                <a:sym typeface="Monda Bold"/>
              </a:rPr>
              <a:t>Modassir Husain</a:t>
            </a:r>
          </a:p>
        </p:txBody>
      </p:sp>
      <p:sp>
        <p:nvSpPr>
          <p:cNvPr id="12" name="TextBox 12"/>
          <p:cNvSpPr txBox="1"/>
          <p:nvPr/>
        </p:nvSpPr>
        <p:spPr>
          <a:xfrm>
            <a:off x="4048029" y="4208434"/>
            <a:ext cx="5501850" cy="306960"/>
          </a:xfrm>
          <a:prstGeom prst="rect">
            <a:avLst/>
          </a:prstGeom>
        </p:spPr>
        <p:txBody>
          <a:bodyPr lIns="0" tIns="0" rIns="0" bIns="0" rtlCol="0" anchor="t">
            <a:spAutoFit/>
          </a:bodyPr>
          <a:lstStyle/>
          <a:p>
            <a:pPr marL="0" lvl="0" indent="0" algn="l">
              <a:lnSpc>
                <a:spcPts val="2505"/>
              </a:lnSpc>
            </a:pPr>
            <a:r>
              <a:rPr lang="en-US" sz="1789" b="1">
                <a:solidFill>
                  <a:srgbClr val="225A58"/>
                </a:solidFill>
                <a:latin typeface="Monda Bold"/>
                <a:ea typeface="Monda Bold"/>
                <a:cs typeface="Monda Bold"/>
                <a:sym typeface="Monda Bold"/>
              </a:rPr>
              <a:t>Key Takeaways:</a:t>
            </a:r>
          </a:p>
        </p:txBody>
      </p:sp>
      <p:sp>
        <p:nvSpPr>
          <p:cNvPr id="13" name="TextBox 13"/>
          <p:cNvSpPr txBox="1"/>
          <p:nvPr/>
        </p:nvSpPr>
        <p:spPr>
          <a:xfrm>
            <a:off x="4048029" y="1806492"/>
            <a:ext cx="9990969" cy="1845881"/>
          </a:xfrm>
          <a:prstGeom prst="rect">
            <a:avLst/>
          </a:prstGeom>
        </p:spPr>
        <p:txBody>
          <a:bodyPr lIns="0" tIns="0" rIns="0" bIns="0" rtlCol="0" anchor="t">
            <a:spAutoFit/>
          </a:bodyPr>
          <a:lstStyle/>
          <a:p>
            <a:pPr marL="0" lvl="0" indent="0" algn="l">
              <a:lnSpc>
                <a:spcPts val="15196"/>
              </a:lnSpc>
            </a:pPr>
            <a:r>
              <a:rPr lang="en-US" sz="10854" b="1">
                <a:solidFill>
                  <a:srgbClr val="5A8D1E"/>
                </a:solidFill>
                <a:latin typeface="Monda Bold"/>
                <a:ea typeface="Monda Bold"/>
                <a:cs typeface="Monda Bold"/>
                <a:sym typeface="Monda Bold"/>
              </a:rPr>
              <a:t>THANK YOU</a:t>
            </a:r>
          </a:p>
        </p:txBody>
      </p:sp>
      <p:sp>
        <p:nvSpPr>
          <p:cNvPr id="14" name="TextBox 14"/>
          <p:cNvSpPr txBox="1"/>
          <p:nvPr/>
        </p:nvSpPr>
        <p:spPr>
          <a:xfrm>
            <a:off x="3943845" y="9009570"/>
            <a:ext cx="2855108" cy="306960"/>
          </a:xfrm>
          <a:prstGeom prst="rect">
            <a:avLst/>
          </a:prstGeom>
        </p:spPr>
        <p:txBody>
          <a:bodyPr lIns="0" tIns="0" rIns="0" bIns="0" rtlCol="0" anchor="t">
            <a:spAutoFit/>
          </a:bodyPr>
          <a:lstStyle/>
          <a:p>
            <a:pPr marL="0" lvl="0" indent="0" algn="l">
              <a:lnSpc>
                <a:spcPts val="2505"/>
              </a:lnSpc>
            </a:pPr>
            <a:r>
              <a:rPr lang="en-US" sz="1789" b="1">
                <a:solidFill>
                  <a:srgbClr val="225A58"/>
                </a:solidFill>
                <a:latin typeface="Monda Bold"/>
                <a:ea typeface="Monda Bold"/>
                <a:cs typeface="Monda Bold"/>
                <a:sym typeface="Monda Bold"/>
              </a:rPr>
              <a:t>25SCS1003004509</a:t>
            </a:r>
          </a:p>
        </p:txBody>
      </p:sp>
      <p:sp>
        <p:nvSpPr>
          <p:cNvPr id="15" name="Freeform 15"/>
          <p:cNvSpPr/>
          <p:nvPr/>
        </p:nvSpPr>
        <p:spPr>
          <a:xfrm>
            <a:off x="14893457" y="411140"/>
            <a:ext cx="2932078" cy="1767280"/>
          </a:xfrm>
          <a:custGeom>
            <a:avLst/>
            <a:gdLst/>
            <a:ahLst/>
            <a:cxnLst/>
            <a:rect l="l" t="t" r="r" b="b"/>
            <a:pathLst>
              <a:path w="2932078" h="1767280">
                <a:moveTo>
                  <a:pt x="0" y="0"/>
                </a:moveTo>
                <a:lnTo>
                  <a:pt x="2932079" y="0"/>
                </a:lnTo>
                <a:lnTo>
                  <a:pt x="2932079" y="1767280"/>
                </a:lnTo>
                <a:lnTo>
                  <a:pt x="0" y="1767280"/>
                </a:lnTo>
                <a:lnTo>
                  <a:pt x="0" y="0"/>
                </a:lnTo>
                <a:close/>
              </a:path>
            </a:pathLst>
          </a:custGeom>
          <a:blipFill>
            <a:blip r:embed="rId4"/>
            <a:stretch>
              <a:fillRect l="-83067" t="-88653" r="-525532" b="-643198"/>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845</Words>
  <Application>Microsoft Office PowerPoint</Application>
  <PresentationFormat>Custom</PresentationFormat>
  <Paragraphs>64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Monda Bold</vt:lpstr>
      <vt:lpstr>Arial</vt:lpstr>
      <vt:lpstr>Bricolage Grotesque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Front End Internship: Modassir Husain at ADH Enterprises</dc:title>
  <dc:creator>MODASSIR HUSAIN</dc:creator>
  <cp:lastModifiedBy>MODASSIR HUSAIN</cp:lastModifiedBy>
  <cp:revision>2</cp:revision>
  <dcterms:created xsi:type="dcterms:W3CDTF">2006-08-16T00:00:00Z</dcterms:created>
  <dcterms:modified xsi:type="dcterms:W3CDTF">2026-09-10T04:21:15Z</dcterms:modified>
  <dc:identifier>DAHUyTfM0BQ</dc:identifier>
</cp:coreProperties>
</file>